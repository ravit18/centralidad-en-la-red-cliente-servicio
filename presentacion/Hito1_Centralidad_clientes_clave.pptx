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Clientes</c:v>
                </c:pt>
              </c:strCache>
            </c:strRef>
          </c:tx>
          <c:spPr>
            <a:solidFill>
              <a:srgbClr val="BDBD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BDBDBD"/>
              </a:solidFill>
              <a:effectLst/>
            </c:spPr>
          </c:dPt>
          <c:dPt>
            <c:idx val="1"/>
            <c:invertIfNegative val="0"/>
            <c:bubble3D val="0"/>
            <c:spPr>
              <a:solidFill>
                <a:srgbClr val="BDBDBD"/>
              </a:solidFill>
              <a:effectLst/>
            </c:spPr>
          </c:dPt>
          <c:dPt>
            <c:idx val="2"/>
            <c:invertIfNegative val="0"/>
            <c:bubble3D val="0"/>
            <c:spPr>
              <a:solidFill>
                <a:srgbClr val="BDBDBD"/>
              </a:solidFill>
              <a:effectLst/>
            </c:spPr>
          </c:dPt>
          <c:dPt>
            <c:idx val="3"/>
            <c:invertIfNegative val="0"/>
            <c:bubble3D val="0"/>
            <c:spPr>
              <a:solidFill>
                <a:srgbClr val="BDBDBD"/>
              </a:solidFill>
              <a:effectLst/>
            </c:spPr>
          </c:dPt>
          <c:dPt>
            <c:idx val="4"/>
            <c:invertIfNegative val="0"/>
            <c:bubble3D val="0"/>
            <c:spPr>
              <a:solidFill>
                <a:srgbClr val="BDBDBD"/>
              </a:solidFill>
              <a:effectLst/>
            </c:spPr>
          </c:dPt>
          <c:dPt>
            <c:idx val="5"/>
            <c:invertIfNegative val="0"/>
            <c:bubble3D val="0"/>
            <c:spPr>
              <a:solidFill>
                <a:srgbClr val="BDBDBD"/>
              </a:solidFill>
              <a:effectLst/>
            </c:spPr>
          </c:dPt>
          <c:dPt>
            <c:idx val="6"/>
            <c:invertIfNegative val="0"/>
            <c:bubble3D val="0"/>
            <c:spPr>
              <a:solidFill>
                <a:srgbClr val="BDBDBD"/>
              </a:solidFill>
              <a:effectLst/>
            </c:spPr>
          </c:dPt>
          <c:dPt>
            <c:idx val="7"/>
            <c:invertIfNegative val="0"/>
            <c:bubble3D val="0"/>
            <c:spPr>
              <a:solidFill>
                <a:srgbClr val="BDBDBD"/>
              </a:solidFill>
              <a:effectLst/>
            </c:spPr>
          </c:dPt>
          <c:dPt>
            <c:idx val="8"/>
            <c:invertIfNegative val="0"/>
            <c:bubble3D val="0"/>
            <c:spPr>
              <a:solidFill>
                <a:srgbClr val="BDBDBD"/>
              </a:solidFill>
              <a:effectLst/>
            </c:spPr>
          </c:dPt>
          <c:dPt>
            <c:idx val="9"/>
            <c:invertIfNegative val="0"/>
            <c:bubble3D val="0"/>
            <c:spPr>
              <a:solidFill>
                <a:srgbClr val="BDBDBD"/>
              </a:solidFill>
              <a:effectLst/>
            </c:spPr>
          </c:dPt>
          <c:dPt>
            <c:idx val="10"/>
            <c:invertIfNegative val="0"/>
            <c:bubble3D val="0"/>
            <c:spPr>
              <a:solidFill>
                <a:srgbClr val="BDBDBD"/>
              </a:solidFill>
              <a:effectLst/>
            </c:spPr>
          </c:dPt>
          <c:dPt>
            <c:idx val="11"/>
            <c:invertIfNegative val="0"/>
            <c:bubble3D val="0"/>
            <c:spPr>
              <a:solidFill>
                <a:srgbClr val="BDBDBD"/>
              </a:solidFill>
              <a:effectLst/>
            </c:spPr>
          </c:dPt>
          <c:dPt>
            <c:idx val="12"/>
            <c:invertIfNegative val="0"/>
            <c:bubble3D val="0"/>
            <c:spPr>
              <a:solidFill>
                <a:srgbClr val="DA291C"/>
              </a:solidFill>
              <a:effectLst/>
            </c:spPr>
          </c:dPt>
          <c:dPt>
            <c:idx val="13"/>
            <c:invertIfNegative val="0"/>
            <c:bubble3D val="0"/>
            <c:spPr>
              <a:solidFill>
                <a:srgbClr val="BDBDBD"/>
              </a:solidFill>
              <a:effectLst/>
            </c:spPr>
          </c:dPt>
          <c:dPt>
            <c:idx val="14"/>
            <c:invertIfNegative val="0"/>
            <c:bubble3D val="0"/>
            <c:spPr>
              <a:solidFill>
                <a:srgbClr val="BDBDBD"/>
              </a:solidFill>
              <a:effectLst/>
            </c:spPr>
          </c:dPt>
          <c:dPt>
            <c:idx val="15"/>
            <c:invertIfNegative val="0"/>
            <c:bubble3D val="0"/>
            <c:spPr>
              <a:solidFill>
                <a:srgbClr val="BDBDBD"/>
              </a:solidFill>
              <a:effectLst/>
            </c:spPr>
          </c:dPt>
          <c:dPt>
            <c:idx val="16"/>
            <c:invertIfNegative val="0"/>
            <c:bubble3D val="0"/>
            <c:spPr>
              <a:solidFill>
                <a:srgbClr val="BDBDBD"/>
              </a:solidFill>
              <a:effectLst/>
            </c:spPr>
          </c:dPt>
          <c:dPt>
            <c:idx val="17"/>
            <c:invertIfNegative val="0"/>
            <c:bubble3D val="0"/>
            <c:spPr>
              <a:solidFill>
                <a:srgbClr val="BDBDBD"/>
              </a:solidFill>
              <a:effectLst/>
            </c:spPr>
          </c:dPt>
          <c:cat>
            <c:multiLvlStrRef>
              <c:f>Sheet1!$A$2:$A$19</c:f>
              <c:multiLvlStrCache>
                <c:ptCount val="18"/>
                <c:lvl>
                  <c:pt idx="0">
                    <c:v>0</c:v>
                  </c:pt>
                  <c:pt idx="1">
                    <c:v>50</c:v>
                  </c:pt>
                  <c:pt idx="2">
                    <c:v>100</c:v>
                  </c:pt>
                  <c:pt idx="3">
                    <c:v>150</c:v>
                  </c:pt>
                  <c:pt idx="4">
                    <c:v>200</c:v>
                  </c:pt>
                  <c:pt idx="5">
                    <c:v>250</c:v>
                  </c:pt>
                  <c:pt idx="6">
                    <c:v>300</c:v>
                  </c:pt>
                  <c:pt idx="7">
                    <c:v>350</c:v>
                  </c:pt>
                  <c:pt idx="8">
                    <c:v>400</c:v>
                  </c:pt>
                  <c:pt idx="9">
                    <c:v>450</c:v>
                  </c:pt>
                  <c:pt idx="10">
                    <c:v>500</c:v>
                  </c:pt>
                  <c:pt idx="11">
                    <c:v>550</c:v>
                  </c:pt>
                  <c:pt idx="12">
                    <c:v>600</c:v>
                  </c:pt>
                  <c:pt idx="13">
                    <c:v>650</c:v>
                  </c:pt>
                  <c:pt idx="14">
                    <c:v>700</c:v>
                  </c:pt>
                  <c:pt idx="15">
                    <c:v>750</c:v>
                  </c:pt>
                  <c:pt idx="16">
                    <c:v>800</c:v>
                  </c:pt>
                  <c:pt idx="17">
                    <c:v>850</c:v>
                  </c:pt>
                </c:lvl>
              </c:multiLvlStrCache>
            </c:multiLvlStrRef>
          </c:cat>
          <c:val>
            <c:numRef>
              <c:f>Sheet1!$B$2:$B$19</c:f>
              <c:numCache>
                <c:formatCode>General</c:formatCode>
                <c:ptCount val="18"/>
                <c:pt idx="0">
                  <c:v>25</c:v>
                </c:pt>
                <c:pt idx="1">
                  <c:v>14</c:v>
                </c:pt>
                <c:pt idx="2">
                  <c:v>37</c:v>
                </c:pt>
                <c:pt idx="3">
                  <c:v>63</c:v>
                </c:pt>
                <c:pt idx="4">
                  <c:v>58</c:v>
                </c:pt>
                <c:pt idx="5">
                  <c:v>8</c:v>
                </c:pt>
                <c:pt idx="6">
                  <c:v>53</c:v>
                </c:pt>
                <c:pt idx="7">
                  <c:v>0</c:v>
                </c:pt>
                <c:pt idx="8">
                  <c:v>0</c:v>
                </c:pt>
                <c:pt idx="9">
                  <c:v>0</c:v>
                </c:pt>
                <c:pt idx="10">
                  <c:v>0</c:v>
                </c:pt>
                <c:pt idx="11">
                  <c:v>0</c:v>
                </c:pt>
                <c:pt idx="12">
                  <c:v>454</c:v>
                </c:pt>
                <c:pt idx="13">
                  <c:v>20</c:v>
                </c:pt>
                <c:pt idx="14">
                  <c:v>4</c:v>
                </c:pt>
                <c:pt idx="15">
                  <c:v>77</c:v>
                </c:pt>
                <c:pt idx="16">
                  <c:v>49</c:v>
                </c:pt>
                <c:pt idx="17">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6B6B6B"/>
                    </a:solidFill>
                    <a:latin typeface="Arial"/>
                  </a:defRPr>
                </a:pPr>
                <a:r>
                  <a:rPr sz="1200" b="0" i="0" u="none" strike="noStrike">
                    <a:solidFill>
                      <a:srgbClr val="6B6B6B"/>
                    </a:solidFill>
                    <a:latin typeface="Arial"/>
                  </a:rPr>
                  <a:t>Grado: n.º de clientes con los que se conecta (tramos de 50)</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Clientes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Centralidad de grado</c:v>
                </c:pt>
              </c:strCache>
            </c:strRef>
          </c:tx>
          <c:spPr>
            <a:solidFill>
              <a:srgbClr val="BDBDBD"/>
            </a:solidFill>
            <a:effectLst/>
          </c:spPr>
          <c:invertIfNegative val="0"/>
          <c:dLbls>
            <c:numFmt formatCode="0.000" sourceLinked="0"/>
            <c:txPr>
              <a:bodyPr/>
              <a:lstStyle/>
              <a:p>
                <a:pPr>
                  <a:defRPr b="0" i="0" strike="noStrike" sz="120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BDBDBD"/>
              </a:solidFill>
              <a:effectLst/>
            </c:spPr>
          </c:dPt>
          <c:dPt>
            <c:idx val="1"/>
            <c:invertIfNegative val="0"/>
            <c:bubble3D val="0"/>
            <c:spPr>
              <a:solidFill>
                <a:srgbClr val="BDBDBD"/>
              </a:solidFill>
              <a:effectLst/>
            </c:spPr>
          </c:dPt>
          <c:dPt>
            <c:idx val="2"/>
            <c:invertIfNegative val="0"/>
            <c:bubble3D val="0"/>
            <c:spPr>
              <a:solidFill>
                <a:srgbClr val="BDBDBD"/>
              </a:solidFill>
              <a:effectLst/>
            </c:spPr>
          </c:dPt>
          <c:dPt>
            <c:idx val="3"/>
            <c:invertIfNegative val="0"/>
            <c:bubble3D val="0"/>
            <c:spPr>
              <a:solidFill>
                <a:srgbClr val="BDBDBD"/>
              </a:solidFill>
              <a:effectLst/>
            </c:spPr>
          </c:dPt>
          <c:dPt>
            <c:idx val="4"/>
            <c:invertIfNegative val="0"/>
            <c:bubble3D val="0"/>
            <c:spPr>
              <a:solidFill>
                <a:srgbClr val="BDBDBD"/>
              </a:solidFill>
              <a:effectLst/>
            </c:spPr>
          </c:dPt>
          <c:dPt>
            <c:idx val="5"/>
            <c:invertIfNegative val="0"/>
            <c:bubble3D val="0"/>
            <c:spPr>
              <a:solidFill>
                <a:srgbClr val="BDBDBD"/>
              </a:solidFill>
              <a:effectLst/>
            </c:spPr>
          </c:dPt>
          <c:dPt>
            <c:idx val="6"/>
            <c:invertIfNegative val="0"/>
            <c:bubble3D val="0"/>
            <c:spPr>
              <a:solidFill>
                <a:srgbClr val="BDBDBD"/>
              </a:solidFill>
              <a:effectLst/>
            </c:spPr>
          </c:dPt>
          <c:dPt>
            <c:idx val="7"/>
            <c:invertIfNegative val="0"/>
            <c:bubble3D val="0"/>
            <c:spPr>
              <a:solidFill>
                <a:srgbClr val="BDBDBD"/>
              </a:solidFill>
              <a:effectLst/>
            </c:spPr>
          </c:dPt>
          <c:dPt>
            <c:idx val="8"/>
            <c:invertIfNegative val="0"/>
            <c:bubble3D val="0"/>
            <c:spPr>
              <a:solidFill>
                <a:srgbClr val="BDBDBD"/>
              </a:solidFill>
              <a:effectLst/>
            </c:spPr>
          </c:dPt>
          <c:dPt>
            <c:idx val="9"/>
            <c:invertIfNegative val="0"/>
            <c:bubble3D val="0"/>
            <c:spPr>
              <a:solidFill>
                <a:srgbClr val="DA291C"/>
              </a:solidFill>
              <a:effectLst/>
            </c:spPr>
          </c:dPt>
          <c:cat>
            <c:multiLvlStrRef>
              <c:f>Sheet1!$A$2:$A$11</c:f>
              <c:multiLvlStrCache>
                <c:ptCount val="10"/>
                <c:lvl>
                  <c:pt idx="0">
                    <c:v>ID_37</c:v>
                  </c:pt>
                  <c:pt idx="1">
                    <c:v>ID_3167</c:v>
                  </c:pt>
                  <c:pt idx="2">
                    <c:v>ID_3169</c:v>
                  </c:pt>
                  <c:pt idx="3">
                    <c:v>ID_4702</c:v>
                  </c:pt>
                  <c:pt idx="4">
                    <c:v>ID_4543</c:v>
                  </c:pt>
                  <c:pt idx="5">
                    <c:v>ID_3189</c:v>
                  </c:pt>
                  <c:pt idx="6">
                    <c:v>ID_92</c:v>
                  </c:pt>
                  <c:pt idx="7">
                    <c:v>ID_982</c:v>
                  </c:pt>
                  <c:pt idx="8">
                    <c:v>ID_10</c:v>
                  </c:pt>
                  <c:pt idx="9">
                    <c:v>ID_3124</c:v>
                  </c:pt>
                </c:lvl>
              </c:multiLvlStrCache>
            </c:multiLvlStrRef>
          </c:cat>
          <c:val>
            <c:numRef>
              <c:f>Sheet1!$B$2:$B$11</c:f>
              <c:numCache>
                <c:formatCode>General</c:formatCode>
                <c:ptCount val="10"/>
                <c:pt idx="0">
                  <c:v>0.9745</c:v>
                </c:pt>
                <c:pt idx="1">
                  <c:v>0.9745</c:v>
                </c:pt>
                <c:pt idx="2">
                  <c:v>0.9745</c:v>
                </c:pt>
                <c:pt idx="3">
                  <c:v>0.9745</c:v>
                </c:pt>
                <c:pt idx="4">
                  <c:v>0.9745</c:v>
                </c:pt>
                <c:pt idx="5">
                  <c:v>0.9768</c:v>
                </c:pt>
                <c:pt idx="6">
                  <c:v>0.9768</c:v>
                </c:pt>
                <c:pt idx="7">
                  <c:v>0.9768</c:v>
                </c:pt>
                <c:pt idx="8">
                  <c:v>0.9768</c:v>
                </c:pt>
                <c:pt idx="9">
                  <c:v>0.9884</c:v>
                </c:pt>
              </c:numCache>
            </c:numRef>
          </c:val>
        </c:ser>
        <c:dLbls>
          <c:numFmt formatCode="0.000" sourceLinked="0"/>
          <c:txPr>
            <a:bodyPr/>
            <a:lstStyle/>
            <a:p>
              <a:pPr>
                <a:defRPr b="0" i="0" strike="noStrike" sz="1200" u="none">
                  <a:solidFill>
                    <a:srgbClr val="222222"/>
                  </a:solidFill>
                  <a:latin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1"/>
          <c:min val="0.9"/>
        </c:scaling>
        <c:delete val="0"/>
        <c:axPos val="b"/>
        <c:majorGridlines>
          <c:spPr>
            <a:ln w="6350" cap="flat">
              <a:solidFill>
                <a:srgbClr val="E6E6E6"/>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Perfiles de servicios</c:v>
                </c:pt>
              </c:strCache>
            </c:strRef>
          </c:tx>
          <c:spPr>
            <a:solidFill>
              <a:srgbClr val="DA291C"/>
            </a:solidFill>
            <a:ln>
              <a:noFill/>
            </a:ln>
            <a:effectLst/>
          </c:spPr>
          <c:marker>
            <c:symbol val="circle"/>
            <c:size val="11"/>
            <c:spPr>
              <a:solidFill>
                <a:srgbClr val="DA291C"/>
              </a:solidFill>
              <a:ln w="9525" cap="flat">
                <a:solidFill>
                  <a:srgbClr val="DA291C"/>
                </a:solidFill>
                <a:prstDash val="solid"/>
                <a:round/>
              </a:ln>
              <a:effectLst/>
            </c:spPr>
          </c:marker>
          <c:xVal>
            <c:numRef>
              <c:f>Sheet1!$A$2:$A$48</c:f>
              <c:numCache>
                <c:formatCode>General</c:formatCode>
                <c:ptCount val="47"/>
                <c:pt idx="0">
                  <c:v>0.7006960556844547</c:v>
                </c:pt>
                <c:pt idx="1">
                  <c:v>0.7111368909512761</c:v>
                </c:pt>
                <c:pt idx="2">
                  <c:v>0.919953596287703</c:v>
                </c:pt>
                <c:pt idx="3">
                  <c:v>0.976798143851508</c:v>
                </c:pt>
                <c:pt idx="4">
                  <c:v>0.988399071925754</c:v>
                </c:pt>
                <c:pt idx="5">
                  <c:v>0.9419953596287702</c:v>
                </c:pt>
                <c:pt idx="6">
                  <c:v>0.8097447795823666</c:v>
                </c:pt>
                <c:pt idx="7">
                  <c:v>0.9060324825986078</c:v>
                </c:pt>
                <c:pt idx="8">
                  <c:v>0.962877030162413</c:v>
                </c:pt>
                <c:pt idx="9">
                  <c:v>0.974477958236659</c:v>
                </c:pt>
                <c:pt idx="10">
                  <c:v>0.9280742459396752</c:v>
                </c:pt>
                <c:pt idx="11">
                  <c:v>0.9408352668213456</c:v>
                </c:pt>
                <c:pt idx="12">
                  <c:v>0.9176334106728538</c:v>
                </c:pt>
                <c:pt idx="13">
                  <c:v>0.7993039443155452</c:v>
                </c:pt>
                <c:pt idx="14">
                  <c:v>0.8155452436194895</c:v>
                </c:pt>
                <c:pt idx="15">
                  <c:v>0.7621809744779582</c:v>
                </c:pt>
                <c:pt idx="16">
                  <c:v>0.771461716937355</c:v>
                </c:pt>
                <c:pt idx="17">
                  <c:v>0.7064965197215777</c:v>
                </c:pt>
                <c:pt idx="18">
                  <c:v>0.0174013921113689</c:v>
                </c:pt>
                <c:pt idx="19">
                  <c:v>0.2378190255220417</c:v>
                </c:pt>
                <c:pt idx="20">
                  <c:v>0.2238979118329466</c:v>
                </c:pt>
                <c:pt idx="21">
                  <c:v>0.3422273781902552</c:v>
                </c:pt>
                <c:pt idx="22">
                  <c:v>0.3631090487238979</c:v>
                </c:pt>
                <c:pt idx="23">
                  <c:v>0.2935034802784222</c:v>
                </c:pt>
                <c:pt idx="24">
                  <c:v>0.0881670533642691</c:v>
                </c:pt>
                <c:pt idx="25">
                  <c:v>0.1647331786542923</c:v>
                </c:pt>
                <c:pt idx="26">
                  <c:v>0.0359628770301624</c:v>
                </c:pt>
                <c:pt idx="27">
                  <c:v>0.0069605568445475</c:v>
                </c:pt>
                <c:pt idx="28">
                  <c:v>0.0185614849187935</c:v>
                </c:pt>
                <c:pt idx="29">
                  <c:v>0.291183294663573</c:v>
                </c:pt>
                <c:pt idx="30">
                  <c:v>0.2737819025522041</c:v>
                </c:pt>
                <c:pt idx="31">
                  <c:v>0.351508120649652</c:v>
                </c:pt>
                <c:pt idx="32">
                  <c:v>0.3665893271461716</c:v>
                </c:pt>
                <c:pt idx="33">
                  <c:v>0.302784222737819</c:v>
                </c:pt>
                <c:pt idx="34">
                  <c:v>0.1566125290023201</c:v>
                </c:pt>
                <c:pt idx="35">
                  <c:v>0.1809744779582366</c:v>
                </c:pt>
                <c:pt idx="36">
                  <c:v>0.0812064965197215</c:v>
                </c:pt>
                <c:pt idx="37">
                  <c:v>0.0058004640371229</c:v>
                </c:pt>
                <c:pt idx="38">
                  <c:v>0.019721577726218</c:v>
                </c:pt>
                <c:pt idx="39">
                  <c:v>0.1392111368909512</c:v>
                </c:pt>
                <c:pt idx="40">
                  <c:v>0.1693735498839907</c:v>
                </c:pt>
                <c:pt idx="41">
                  <c:v>0.0800464037122969</c:v>
                </c:pt>
                <c:pt idx="42">
                  <c:v>0.0893271461716937</c:v>
                </c:pt>
                <c:pt idx="43">
                  <c:v>0.0069605568445475</c:v>
                </c:pt>
                <c:pt idx="44">
                  <c:v>0.0777262180974477</c:v>
                </c:pt>
                <c:pt idx="45">
                  <c:v>0.0823665893271461</c:v>
                </c:pt>
                <c:pt idx="46">
                  <c:v>0.0046403712296983</c:v>
                </c:pt>
              </c:numCache>
            </c:numRef>
          </c:xVal>
          <c:yVal>
            <c:numRef>
              <c:f>Sheet1!$B$2:$B$48</c:f>
              <c:numCache>
                <c:formatCode>General</c:formatCode>
                <c:ptCount val="47"/>
                <c:pt idx="0">
                  <c:v>0.7696428571428572</c:v>
                </c:pt>
                <c:pt idx="1">
                  <c:v>0.7758775877587759</c:v>
                </c:pt>
                <c:pt idx="2">
                  <c:v>0.9258861439312568</c:v>
                </c:pt>
                <c:pt idx="3">
                  <c:v>0.9773242630385488</c:v>
                </c:pt>
                <c:pt idx="4">
                  <c:v>0.9885321100917432</c:v>
                </c:pt>
                <c:pt idx="5">
                  <c:v>0.9451754385964912</c:v>
                </c:pt>
                <c:pt idx="6">
                  <c:v>0.8401559454191033</c:v>
                </c:pt>
                <c:pt idx="7">
                  <c:v>0.914103923647932</c:v>
                </c:pt>
                <c:pt idx="8">
                  <c:v>0.96420581655481</c:v>
                </c:pt>
                <c:pt idx="9">
                  <c:v>0.9751131221719456</c:v>
                </c:pt>
                <c:pt idx="10">
                  <c:v>0.9329004329004328</c:v>
                </c:pt>
                <c:pt idx="11">
                  <c:v>0.9441401971522454</c:v>
                </c:pt>
                <c:pt idx="12">
                  <c:v>0.9239013933547696</c:v>
                </c:pt>
                <c:pt idx="13">
                  <c:v>0.8328502415458937</c:v>
                </c:pt>
                <c:pt idx="14">
                  <c:v>0.8442703232125367</c:v>
                </c:pt>
                <c:pt idx="15">
                  <c:v>0.8078725398313027</c:v>
                </c:pt>
                <c:pt idx="16">
                  <c:v>0.8139754485363551</c:v>
                </c:pt>
                <c:pt idx="17">
                  <c:v>0.7730941704035874</c:v>
                </c:pt>
                <c:pt idx="18">
                  <c:v>0.5014543339150669</c:v>
                </c:pt>
                <c:pt idx="19">
                  <c:v>0.5674786043449638</c:v>
                </c:pt>
                <c:pt idx="20">
                  <c:v>0.5630306988896147</c:v>
                </c:pt>
                <c:pt idx="21">
                  <c:v>0.6032190342897131</c:v>
                </c:pt>
                <c:pt idx="22">
                  <c:v>0.6109142452161588</c:v>
                </c:pt>
                <c:pt idx="23">
                  <c:v>0.5859959211420802</c:v>
                </c:pt>
                <c:pt idx="24">
                  <c:v>0.5199034981905911</c:v>
                </c:pt>
                <c:pt idx="25">
                  <c:v>0.5448798988621998</c:v>
                </c:pt>
                <c:pt idx="26">
                  <c:v>0.5091553455404607</c:v>
                </c:pt>
                <c:pt idx="27">
                  <c:v>0.4872809496890898</c:v>
                </c:pt>
                <c:pt idx="28">
                  <c:v>0.5017462165308498</c:v>
                </c:pt>
                <c:pt idx="29">
                  <c:v>0.5852002715546504</c:v>
                </c:pt>
                <c:pt idx="30">
                  <c:v>0.5793010752688172</c:v>
                </c:pt>
                <c:pt idx="31">
                  <c:v>0.6066150598170302</c:v>
                </c:pt>
                <c:pt idx="32">
                  <c:v>0.6122159090909091</c:v>
                </c:pt>
                <c:pt idx="33">
                  <c:v>0.5892002734107997</c:v>
                </c:pt>
                <c:pt idx="34">
                  <c:v>0.5390869293308318</c:v>
                </c:pt>
                <c:pt idx="35">
                  <c:v>0.5497448979591837</c:v>
                </c:pt>
                <c:pt idx="36">
                  <c:v>0.5211608222490931</c:v>
                </c:pt>
                <c:pt idx="37">
                  <c:v>0.4870056497175141</c:v>
                </c:pt>
                <c:pt idx="38">
                  <c:v>0.5020384391380315</c:v>
                </c:pt>
                <c:pt idx="39">
                  <c:v>0.5340768277571252</c:v>
                </c:pt>
                <c:pt idx="40">
                  <c:v>0.5462610899873257</c:v>
                </c:pt>
                <c:pt idx="41">
                  <c:v>0.5208459214501511</c:v>
                </c:pt>
                <c:pt idx="42">
                  <c:v>0.5233758348512447</c:v>
                </c:pt>
                <c:pt idx="43">
                  <c:v>0.4872809496890898</c:v>
                </c:pt>
                <c:pt idx="44">
                  <c:v>0.517406962785114</c:v>
                </c:pt>
                <c:pt idx="45">
                  <c:v>0.5214761040532365</c:v>
                </c:pt>
                <c:pt idx="46">
                  <c:v>0.4870056497175141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Grado</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1"/>
          <c:min val="0.4"/>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Cercanía</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Intermediación</c:v>
                </c:pt>
              </c:strCache>
            </c:strRef>
          </c:tx>
          <c:spPr>
            <a:solidFill>
              <a:schemeClr val="accent1"/>
            </a:solidFill>
            <a:ln w="9525" cap="flat">
              <a:solidFill>
                <a:srgbClr val="F9F9F9"/>
              </a:solidFill>
              <a:prstDash val="solid"/>
              <a:round/>
            </a:ln>
            <a:effectLst/>
          </c:spPr>
          <c:dPt>
            <c:idx val="0"/>
            <c:bubble3D val="0"/>
            <c:spPr>
              <a:solidFill>
                <a:srgbClr val="DA291C"/>
              </a:solidFill>
              <a:ln w="12700" cap="flat">
                <a:solidFill>
                  <a:srgbClr val="1A1A1A"/>
                </a:solidFill>
                <a:prstDash val="solid"/>
                <a:round/>
              </a:ln>
              <a:effectLst/>
            </c:spPr>
          </c:dPt>
          <c:dPt>
            <c:idx val="1"/>
            <c:bubble3D val="0"/>
            <c:spPr>
              <a:solidFill>
                <a:srgbClr val="5A5A5A"/>
              </a:solidFill>
              <a:ln w="12700" cap="flat">
                <a:solidFill>
                  <a:srgbClr val="1A1A1A"/>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Intermediación 0</c:v>
                </c:pt>
                <c:pt idx="1">
                  <c:v>Pueden ser puente</c:v>
                </c:pt>
              </c:strCache>
            </c:strRef>
          </c:cat>
          <c:val>
            <c:numRef>
              <c:f>Sheet1!$B$2:$B$3</c:f>
              <c:numCache>
                <c:ptCount val="2"/>
                <c:pt idx="0">
                  <c:v>633</c:v>
                </c:pt>
                <c:pt idx="1">
                  <c:v>230</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la intermediación total</c:v>
                </c:pt>
              </c:strCache>
            </c:strRef>
          </c:tx>
          <c:spPr>
            <a:solidFill>
              <a:srgbClr val="DA291C"/>
            </a:solidFill>
            <a:effectLst/>
          </c:spPr>
          <c:invertIfNegative val="0"/>
          <c:dLbls>
            <c:numFmt formatCode="0.0&quot;%&quot;"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10 primeros</c:v>
                  </c:pt>
                  <c:pt idx="1">
                    <c:v>50 primeros</c:v>
                  </c:pt>
                  <c:pt idx="2">
                    <c:v>100 primeros</c:v>
                  </c:pt>
                </c:lvl>
              </c:multiLvlStrCache>
            </c:multiLvlStrRef>
          </c:cat>
          <c:val>
            <c:numRef>
              <c:f>Sheet1!$B$2:$B$4</c:f>
              <c:numCache>
                <c:formatCode>General</c:formatCode>
                <c:ptCount val="3"/>
                <c:pt idx="0">
                  <c:v>16.4</c:v>
                </c:pt>
                <c:pt idx="1">
                  <c:v>51.9</c:v>
                </c:pt>
                <c:pt idx="2">
                  <c:v>75.4</c:v>
                </c:pt>
              </c:numCache>
            </c:numRef>
          </c:val>
        </c:ser>
        <c:dLbls>
          <c:numFmt formatCode="0.0&quot;%&quot;" sourceLinked="0"/>
          <c:txPr>
            <a:bodyPr/>
            <a:lstStyle/>
            <a:p>
              <a:pPr>
                <a:defRPr b="1" i="0" strike="noStrike" sz="16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D9D9D9"/>
                </a:solidFill>
                <a:latin typeface="Calibri"/>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Otros perfiles</c:v>
                </c:pt>
              </c:strCache>
            </c:strRef>
          </c:tx>
          <c:spPr>
            <a:solidFill>
              <a:srgbClr val="BDBDBD"/>
            </a:solidFill>
            <a:ln>
              <a:noFill/>
            </a:ln>
            <a:effectLst/>
          </c:spPr>
          <c:marker>
            <c:symbol val="circle"/>
            <c:size val="11"/>
            <c:spPr>
              <a:solidFill>
                <a:srgbClr val="BDBDBD"/>
              </a:solidFill>
              <a:ln w="9525" cap="flat">
                <a:solidFill>
                  <a:srgbClr val="BDBDBD"/>
                </a:solidFill>
                <a:prstDash val="solid"/>
                <a:round/>
              </a:ln>
              <a:effectLst/>
            </c:spPr>
          </c:marker>
          <c:xVal>
            <c:numRef>
              <c:f>Sheet1!$A$2:$A$48</c:f>
              <c:numCache>
                <c:formatCode>General</c:formatCode>
                <c:ptCount val="47"/>
                <c:pt idx="0">
                  <c:v>0.7006960556844547</c:v>
                </c:pt>
                <c:pt idx="1">
                  <c:v>0.7111368909512761</c:v>
                </c:pt>
                <c:pt idx="2">
                  <c:v>0.919953596287703</c:v>
                </c:pt>
                <c:pt idx="3">
                  <c:v>0.976798143851508</c:v>
                </c:pt>
                <c:pt idx="4">
                  <c:v>0.988399071925754</c:v>
                </c:pt>
                <c:pt idx="5">
                  <c:v>0.9419953596287702</c:v>
                </c:pt>
                <c:pt idx="6">
                  <c:v>0.8097447795823666</c:v>
                </c:pt>
                <c:pt idx="7">
                  <c:v>0.9060324825986078</c:v>
                </c:pt>
                <c:pt idx="8">
                  <c:v>0.962877030162413</c:v>
                </c:pt>
                <c:pt idx="9">
                  <c:v>0.974477958236659</c:v>
                </c:pt>
                <c:pt idx="10">
                  <c:v>0.9280742459396752</c:v>
                </c:pt>
                <c:pt idx="11">
                  <c:v>0.9408352668213456</c:v>
                </c:pt>
                <c:pt idx="12">
                  <c:v>0.9176334106728538</c:v>
                </c:pt>
                <c:pt idx="13">
                  <c:v>0.7993039443155452</c:v>
                </c:pt>
                <c:pt idx="14">
                  <c:v>0.8155452436194895</c:v>
                </c:pt>
                <c:pt idx="15">
                  <c:v>0.7621809744779582</c:v>
                </c:pt>
                <c:pt idx="16">
                  <c:v>0.771461716937355</c:v>
                </c:pt>
                <c:pt idx="17">
                  <c:v>0.7064965197215777</c:v>
                </c:pt>
                <c:pt idx="18">
                  <c:v>0.0174013921113689</c:v>
                </c:pt>
                <c:pt idx="19">
                  <c:v>0.2378190255220417</c:v>
                </c:pt>
                <c:pt idx="20">
                  <c:v>0.2238979118329466</c:v>
                </c:pt>
                <c:pt idx="21">
                  <c:v>0.3422273781902552</c:v>
                </c:pt>
                <c:pt idx="22">
                  <c:v>0.3631090487238979</c:v>
                </c:pt>
                <c:pt idx="23">
                  <c:v>0.2935034802784222</c:v>
                </c:pt>
                <c:pt idx="24">
                  <c:v>0.0881670533642691</c:v>
                </c:pt>
                <c:pt idx="25">
                  <c:v>0.1647331786542923</c:v>
                </c:pt>
                <c:pt idx="26">
                  <c:v>0.0359628770301624</c:v>
                </c:pt>
                <c:pt idx="27">
                  <c:v>0.0069605568445475</c:v>
                </c:pt>
                <c:pt idx="28">
                  <c:v>0.0185614849187935</c:v>
                </c:pt>
                <c:pt idx="29">
                  <c:v>0.291183294663573</c:v>
                </c:pt>
                <c:pt idx="30">
                  <c:v>0.2737819025522041</c:v>
                </c:pt>
                <c:pt idx="31">
                  <c:v>0.351508120649652</c:v>
                </c:pt>
                <c:pt idx="32">
                  <c:v>0.3665893271461716</c:v>
                </c:pt>
                <c:pt idx="33">
                  <c:v>0.302784222737819</c:v>
                </c:pt>
                <c:pt idx="34">
                  <c:v>0.1566125290023201</c:v>
                </c:pt>
                <c:pt idx="35">
                  <c:v>0.1809744779582366</c:v>
                </c:pt>
                <c:pt idx="36">
                  <c:v>0.0812064965197215</c:v>
                </c:pt>
                <c:pt idx="37">
                  <c:v>0.0058004640371229</c:v>
                </c:pt>
                <c:pt idx="38">
                  <c:v>0.019721577726218</c:v>
                </c:pt>
                <c:pt idx="39">
                  <c:v>0.1392111368909512</c:v>
                </c:pt>
                <c:pt idx="40">
                  <c:v>0.1693735498839907</c:v>
                </c:pt>
                <c:pt idx="41">
                  <c:v>0.0800464037122969</c:v>
                </c:pt>
                <c:pt idx="42">
                  <c:v>0.0893271461716937</c:v>
                </c:pt>
                <c:pt idx="43">
                  <c:v>0.0069605568445475</c:v>
                </c:pt>
                <c:pt idx="44">
                  <c:v>0.0777262180974477</c:v>
                </c:pt>
                <c:pt idx="45">
                  <c:v>0.0823665893271461</c:v>
                </c:pt>
                <c:pt idx="46">
                  <c:v>0.0046403712296983</c:v>
                </c:pt>
              </c:numCache>
            </c:numRef>
          </c:xVal>
          <c:yVal>
            <c:numRef>
              <c:f>Sheet1!$B$2:$B$48</c:f>
              <c:numCache>
                <c:formatCode>General</c:formatCode>
                <c:ptCount val="47"/>
                <c:pt idx="0">
                  <c:v>0</c:v>
                </c:pt>
                <c:pt idx="1">
                  <c:v>0.0008285233013895</c:v>
                </c:pt>
                <c:pt idx="2">
                  <c:v>0.0042071525210615</c:v>
                </c:pt>
                <c:pt idx="3">
                  <c:v>0.0060230849646614</c:v>
                </c:pt>
                <c:pt idx="4">
                  <c:v/>
                </c:pt>
                <c:pt idx="5">
                  <c:v>0.0053370360219158</c:v>
                </c:pt>
                <c:pt idx="6">
                  <c:v>0.002072313122971</c:v>
                </c:pt>
                <c:pt idx="7">
                  <c:v>0.0018129713726219</c:v>
                </c:pt>
                <c:pt idx="8">
                  <c:v>0.0033380240666648</c:v>
                </c:pt>
                <c:pt idx="9">
                  <c:v>0.0042377394220197</c:v>
                </c:pt>
                <c:pt idx="10">
                  <c:v>0.002750541257775</c:v>
                </c:pt>
                <c:pt idx="11">
                  <c:v/>
                </c:pt>
                <c:pt idx="12">
                  <c:v/>
                </c:pt>
                <c:pt idx="13">
                  <c:v>0.0010776603950732</c:v>
                </c:pt>
                <c:pt idx="14">
                  <c:v>0.0016818615109978</c:v>
                </c:pt>
                <c:pt idx="15">
                  <c:v>0.0007117472798366</c:v>
                </c:pt>
                <c:pt idx="16">
                  <c:v>0.0042216343209011</c:v>
                </c:pt>
                <c:pt idx="17">
                  <c:v>0.0021480417910158</c:v>
                </c:pt>
                <c:pt idx="18">
                  <c:v>0</c:v>
                </c:pt>
                <c:pt idx="19">
                  <c:v>0.0003563205113236</c:v>
                </c:pt>
                <c:pt idx="20">
                  <c:v>0</c:v>
                </c:pt>
                <c:pt idx="21">
                  <c:v>0.0002937789834329</c:v>
                </c:pt>
                <c:pt idx="22">
                  <c:v>0.0005412437891427</c:v>
                </c:pt>
                <c:pt idx="23">
                  <c:v>0.0002060891474908</c:v>
                </c:pt>
                <c:pt idx="24">
                  <c:v>0</c:v>
                </c:pt>
                <c:pt idx="25">
                  <c:v>0.00006355545061423406</c:v>
                </c:pt>
                <c:pt idx="26">
                  <c:v>0</c:v>
                </c:pt>
                <c:pt idx="27">
                  <c:v>0</c:v>
                </c:pt>
                <c:pt idx="28">
                  <c:v>0</c:v>
                </c:pt>
                <c:pt idx="29">
                  <c:v>0.0005823213056711</c:v>
                </c:pt>
                <c:pt idx="30">
                  <c:v>0</c:v>
                </c:pt>
                <c:pt idx="31">
                  <c:v>0.000199810283109</c:v>
                </c:pt>
                <c:pt idx="32">
                  <c:v>0.0002967968783218</c:v>
                </c:pt>
                <c:pt idx="33">
                  <c:v>0.0000839937546400665</c:v>
                </c:pt>
                <c:pt idx="34">
                  <c:v>0</c:v>
                </c:pt>
                <c:pt idx="35">
                  <c:v>0.000022823587361214768</c:v>
                </c:pt>
                <c:pt idx="36">
                  <c:v>0</c:v>
                </c:pt>
                <c:pt idx="37">
                  <c:v>0</c:v>
                </c:pt>
                <c:pt idx="38">
                  <c:v>0</c:v>
                </c:pt>
                <c:pt idx="39">
                  <c:v>0</c:v>
                </c:pt>
                <c:pt idx="40">
                  <c:v>0.000031893498904421825</c:v>
                </c:pt>
                <c:pt idx="41">
                  <c:v>0</c:v>
                </c:pt>
                <c:pt idx="42">
                  <c:v>0.0004279743672163</c:v>
                </c:pt>
                <c:pt idx="43">
                  <c:v>0</c:v>
                </c:pt>
                <c:pt idx="44">
                  <c:v>0</c:v>
                </c:pt>
                <c:pt idx="45">
                  <c:v>0.00006973453927203936</c:v>
                </c:pt>
                <c:pt idx="46">
                  <c:v>0</c:v>
                </c:pt>
              </c:numCache>
            </c:numRef>
          </c:yVal>
          <c:smooth val="0"/>
        </c:ser>
        <c:ser>
          <c:idx val="1"/>
          <c:order val="1"/>
          <c:tx>
            <c:strRef>
              <c:f>Sheet1!$C$1</c:f>
              <c:strCache>
                <c:ptCount val="1"/>
                <c:pt idx="0">
                  <c:v>Puentes: ID_329 e ID_2982</c:v>
                </c:pt>
              </c:strCache>
            </c:strRef>
          </c:tx>
          <c:spPr>
            <a:solidFill>
              <a:srgbClr val="DA291C"/>
            </a:solidFill>
            <a:ln>
              <a:noFill/>
            </a:ln>
            <a:effectLst/>
          </c:spPr>
          <c:marker>
            <c:symbol val="circle"/>
            <c:size val="11"/>
            <c:spPr>
              <a:solidFill>
                <a:srgbClr val="DA291C"/>
              </a:solidFill>
              <a:ln w="9525" cap="flat">
                <a:solidFill>
                  <a:srgbClr val="DA291C"/>
                </a:solidFill>
                <a:prstDash val="solid"/>
                <a:round/>
              </a:ln>
              <a:effectLst/>
            </c:spPr>
          </c:marker>
          <c:xVal>
            <c:numRef>
              <c:f>Sheet1!$A$2:$A$48</c:f>
              <c:numCache>
                <c:formatCode>General</c:formatCode>
                <c:ptCount val="47"/>
                <c:pt idx="0">
                  <c:v>0.7006960556844547</c:v>
                </c:pt>
                <c:pt idx="1">
                  <c:v>0.7111368909512761</c:v>
                </c:pt>
                <c:pt idx="2">
                  <c:v>0.919953596287703</c:v>
                </c:pt>
                <c:pt idx="3">
                  <c:v>0.976798143851508</c:v>
                </c:pt>
                <c:pt idx="4">
                  <c:v>0.988399071925754</c:v>
                </c:pt>
                <c:pt idx="5">
                  <c:v>0.9419953596287702</c:v>
                </c:pt>
                <c:pt idx="6">
                  <c:v>0.8097447795823666</c:v>
                </c:pt>
                <c:pt idx="7">
                  <c:v>0.9060324825986078</c:v>
                </c:pt>
                <c:pt idx="8">
                  <c:v>0.962877030162413</c:v>
                </c:pt>
                <c:pt idx="9">
                  <c:v>0.974477958236659</c:v>
                </c:pt>
                <c:pt idx="10">
                  <c:v>0.9280742459396752</c:v>
                </c:pt>
                <c:pt idx="11">
                  <c:v>0.9408352668213456</c:v>
                </c:pt>
                <c:pt idx="12">
                  <c:v>0.9176334106728538</c:v>
                </c:pt>
                <c:pt idx="13">
                  <c:v>0.7993039443155452</c:v>
                </c:pt>
                <c:pt idx="14">
                  <c:v>0.8155452436194895</c:v>
                </c:pt>
                <c:pt idx="15">
                  <c:v>0.7621809744779582</c:v>
                </c:pt>
                <c:pt idx="16">
                  <c:v>0.771461716937355</c:v>
                </c:pt>
                <c:pt idx="17">
                  <c:v>0.7064965197215777</c:v>
                </c:pt>
                <c:pt idx="18">
                  <c:v>0.0174013921113689</c:v>
                </c:pt>
                <c:pt idx="19">
                  <c:v>0.2378190255220417</c:v>
                </c:pt>
                <c:pt idx="20">
                  <c:v>0.2238979118329466</c:v>
                </c:pt>
                <c:pt idx="21">
                  <c:v>0.3422273781902552</c:v>
                </c:pt>
                <c:pt idx="22">
                  <c:v>0.3631090487238979</c:v>
                </c:pt>
                <c:pt idx="23">
                  <c:v>0.2935034802784222</c:v>
                </c:pt>
                <c:pt idx="24">
                  <c:v>0.0881670533642691</c:v>
                </c:pt>
                <c:pt idx="25">
                  <c:v>0.1647331786542923</c:v>
                </c:pt>
                <c:pt idx="26">
                  <c:v>0.0359628770301624</c:v>
                </c:pt>
                <c:pt idx="27">
                  <c:v>0.0069605568445475</c:v>
                </c:pt>
                <c:pt idx="28">
                  <c:v>0.0185614849187935</c:v>
                </c:pt>
                <c:pt idx="29">
                  <c:v>0.291183294663573</c:v>
                </c:pt>
                <c:pt idx="30">
                  <c:v>0.2737819025522041</c:v>
                </c:pt>
                <c:pt idx="31">
                  <c:v>0.351508120649652</c:v>
                </c:pt>
                <c:pt idx="32">
                  <c:v>0.3665893271461716</c:v>
                </c:pt>
                <c:pt idx="33">
                  <c:v>0.302784222737819</c:v>
                </c:pt>
                <c:pt idx="34">
                  <c:v>0.1566125290023201</c:v>
                </c:pt>
                <c:pt idx="35">
                  <c:v>0.1809744779582366</c:v>
                </c:pt>
                <c:pt idx="36">
                  <c:v>0.0812064965197215</c:v>
                </c:pt>
                <c:pt idx="37">
                  <c:v>0.0058004640371229</c:v>
                </c:pt>
                <c:pt idx="38">
                  <c:v>0.019721577726218</c:v>
                </c:pt>
                <c:pt idx="39">
                  <c:v>0.1392111368909512</c:v>
                </c:pt>
                <c:pt idx="40">
                  <c:v>0.1693735498839907</c:v>
                </c:pt>
                <c:pt idx="41">
                  <c:v>0.0800464037122969</c:v>
                </c:pt>
                <c:pt idx="42">
                  <c:v>0.0893271461716937</c:v>
                </c:pt>
                <c:pt idx="43">
                  <c:v>0.0069605568445475</c:v>
                </c:pt>
                <c:pt idx="44">
                  <c:v>0.0777262180974477</c:v>
                </c:pt>
                <c:pt idx="45">
                  <c:v>0.0823665893271461</c:v>
                </c:pt>
                <c:pt idx="46">
                  <c:v>0.0046403712296983</c:v>
                </c:pt>
              </c:numCache>
            </c:numRef>
          </c:xVal>
          <c:yVal>
            <c:numRef>
              <c:f>Sheet1!$C$2:$C$48</c:f>
              <c:numCache>
                <c:formatCode>General</c:formatCode>
                <c:ptCount val="47"/>
                <c:pt idx="0">
                  <c:v/>
                </c:pt>
                <c:pt idx="1">
                  <c:v/>
                </c:pt>
                <c:pt idx="2">
                  <c:v/>
                </c:pt>
                <c:pt idx="3">
                  <c:v/>
                </c:pt>
                <c:pt idx="4">
                  <c:v/>
                </c:pt>
                <c:pt idx="5">
                  <c:v/>
                </c:pt>
                <c:pt idx="6">
                  <c:v/>
                </c:pt>
                <c:pt idx="7">
                  <c:v/>
                </c:pt>
                <c:pt idx="8">
                  <c:v/>
                </c:pt>
                <c:pt idx="9">
                  <c:v/>
                </c:pt>
                <c:pt idx="10">
                  <c:v/>
                </c:pt>
                <c:pt idx="11">
                  <c:v>0.0121472245043605</c:v>
                </c:pt>
                <c:pt idx="12">
                  <c:v>0.0095642212759191</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numCache>
            </c:numRef>
          </c:yVal>
          <c:smooth val="0"/>
        </c:ser>
        <c:ser>
          <c:idx val="2"/>
          <c:order val="2"/>
          <c:tx>
            <c:strRef>
              <c:f>Sheet1!$D$1</c:f>
              <c:strCache>
                <c:ptCount val="1"/>
                <c:pt idx="0">
                  <c:v>ID_3124</c:v>
                </c:pt>
              </c:strCache>
            </c:strRef>
          </c:tx>
          <c:spPr>
            <a:solidFill>
              <a:srgbClr val="222222"/>
            </a:solidFill>
            <a:ln>
              <a:noFill/>
            </a:ln>
            <a:effectLst/>
          </c:spPr>
          <c:marker>
            <c:symbol val="circle"/>
            <c:size val="11"/>
            <c:spPr>
              <a:solidFill>
                <a:srgbClr val="222222"/>
              </a:solidFill>
              <a:ln w="9525" cap="flat">
                <a:solidFill>
                  <a:srgbClr val="222222"/>
                </a:solidFill>
                <a:prstDash val="solid"/>
                <a:round/>
              </a:ln>
              <a:effectLst/>
            </c:spPr>
          </c:marker>
          <c:xVal>
            <c:numRef>
              <c:f>Sheet1!$A$2:$A$48</c:f>
              <c:numCache>
                <c:formatCode>General</c:formatCode>
                <c:ptCount val="47"/>
                <c:pt idx="0">
                  <c:v>0.7006960556844547</c:v>
                </c:pt>
                <c:pt idx="1">
                  <c:v>0.7111368909512761</c:v>
                </c:pt>
                <c:pt idx="2">
                  <c:v>0.919953596287703</c:v>
                </c:pt>
                <c:pt idx="3">
                  <c:v>0.976798143851508</c:v>
                </c:pt>
                <c:pt idx="4">
                  <c:v>0.988399071925754</c:v>
                </c:pt>
                <c:pt idx="5">
                  <c:v>0.9419953596287702</c:v>
                </c:pt>
                <c:pt idx="6">
                  <c:v>0.8097447795823666</c:v>
                </c:pt>
                <c:pt idx="7">
                  <c:v>0.9060324825986078</c:v>
                </c:pt>
                <c:pt idx="8">
                  <c:v>0.962877030162413</c:v>
                </c:pt>
                <c:pt idx="9">
                  <c:v>0.974477958236659</c:v>
                </c:pt>
                <c:pt idx="10">
                  <c:v>0.9280742459396752</c:v>
                </c:pt>
                <c:pt idx="11">
                  <c:v>0.9408352668213456</c:v>
                </c:pt>
                <c:pt idx="12">
                  <c:v>0.9176334106728538</c:v>
                </c:pt>
                <c:pt idx="13">
                  <c:v>0.7993039443155452</c:v>
                </c:pt>
                <c:pt idx="14">
                  <c:v>0.8155452436194895</c:v>
                </c:pt>
                <c:pt idx="15">
                  <c:v>0.7621809744779582</c:v>
                </c:pt>
                <c:pt idx="16">
                  <c:v>0.771461716937355</c:v>
                </c:pt>
                <c:pt idx="17">
                  <c:v>0.7064965197215777</c:v>
                </c:pt>
                <c:pt idx="18">
                  <c:v>0.0174013921113689</c:v>
                </c:pt>
                <c:pt idx="19">
                  <c:v>0.2378190255220417</c:v>
                </c:pt>
                <c:pt idx="20">
                  <c:v>0.2238979118329466</c:v>
                </c:pt>
                <c:pt idx="21">
                  <c:v>0.3422273781902552</c:v>
                </c:pt>
                <c:pt idx="22">
                  <c:v>0.3631090487238979</c:v>
                </c:pt>
                <c:pt idx="23">
                  <c:v>0.2935034802784222</c:v>
                </c:pt>
                <c:pt idx="24">
                  <c:v>0.0881670533642691</c:v>
                </c:pt>
                <c:pt idx="25">
                  <c:v>0.1647331786542923</c:v>
                </c:pt>
                <c:pt idx="26">
                  <c:v>0.0359628770301624</c:v>
                </c:pt>
                <c:pt idx="27">
                  <c:v>0.0069605568445475</c:v>
                </c:pt>
                <c:pt idx="28">
                  <c:v>0.0185614849187935</c:v>
                </c:pt>
                <c:pt idx="29">
                  <c:v>0.291183294663573</c:v>
                </c:pt>
                <c:pt idx="30">
                  <c:v>0.2737819025522041</c:v>
                </c:pt>
                <c:pt idx="31">
                  <c:v>0.351508120649652</c:v>
                </c:pt>
                <c:pt idx="32">
                  <c:v>0.3665893271461716</c:v>
                </c:pt>
                <c:pt idx="33">
                  <c:v>0.302784222737819</c:v>
                </c:pt>
                <c:pt idx="34">
                  <c:v>0.1566125290023201</c:v>
                </c:pt>
                <c:pt idx="35">
                  <c:v>0.1809744779582366</c:v>
                </c:pt>
                <c:pt idx="36">
                  <c:v>0.0812064965197215</c:v>
                </c:pt>
                <c:pt idx="37">
                  <c:v>0.0058004640371229</c:v>
                </c:pt>
                <c:pt idx="38">
                  <c:v>0.019721577726218</c:v>
                </c:pt>
                <c:pt idx="39">
                  <c:v>0.1392111368909512</c:v>
                </c:pt>
                <c:pt idx="40">
                  <c:v>0.1693735498839907</c:v>
                </c:pt>
                <c:pt idx="41">
                  <c:v>0.0800464037122969</c:v>
                </c:pt>
                <c:pt idx="42">
                  <c:v>0.0893271461716937</c:v>
                </c:pt>
                <c:pt idx="43">
                  <c:v>0.0069605568445475</c:v>
                </c:pt>
                <c:pt idx="44">
                  <c:v>0.0777262180974477</c:v>
                </c:pt>
                <c:pt idx="45">
                  <c:v>0.0823665893271461</c:v>
                </c:pt>
                <c:pt idx="46">
                  <c:v>0.0046403712296983</c:v>
                </c:pt>
              </c:numCache>
            </c:numRef>
          </c:xVal>
          <c:yVal>
            <c:numRef>
              <c:f>Sheet1!$D$2:$D$48</c:f>
              <c:numCache>
                <c:formatCode>General</c:formatCode>
                <c:ptCount val="47"/>
                <c:pt idx="0">
                  <c:v/>
                </c:pt>
                <c:pt idx="1">
                  <c:v/>
                </c:pt>
                <c:pt idx="2">
                  <c:v/>
                </c:pt>
                <c:pt idx="3">
                  <c:v/>
                </c:pt>
                <c:pt idx="4">
                  <c:v>0.0071240577406527</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Grado</a:t>
                </a:r>
              </a:p>
            </c:rich>
          </c:tx>
          <c:layout/>
          <c:overlay val="0"/>
        </c:title>
        <c:numFmt formatCode="0.000"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0.014"/>
          <c:min val="0"/>
        </c:scaling>
        <c:delete val="0"/>
        <c:axPos val="l"/>
        <c:majorGridlines>
          <c:spPr>
            <a:ln w="6350" cap="flat">
              <a:solidFill>
                <a:srgbClr val="E6E6E6"/>
              </a:solidFill>
              <a:prstDash val="solid"/>
              <a:round/>
            </a:ln>
          </c:spPr>
        </c:majorGridlines>
        <c:title>
          <c:tx>
            <c:rich>
              <a:bodyPr/>
              <a:lstStyle/>
              <a:p>
                <a:pPr>
                  <a:defRPr sz="1200" b="0" i="0" u="none" strike="noStrike">
                    <a:solidFill>
                      <a:srgbClr val="6B6B6B"/>
                    </a:solidFill>
                    <a:latin typeface="Arial"/>
                  </a:defRPr>
                </a:pPr>
                <a:r>
                  <a:rPr sz="1200" b="0" i="0" u="none" strike="noStrike">
                    <a:solidFill>
                      <a:srgbClr val="6B6B6B"/>
                    </a:solidFill>
                    <a:latin typeface="Arial"/>
                  </a:rPr>
                  <a:t>Intermediación</a:t>
                </a:r>
              </a:p>
            </c:rich>
          </c:tx>
          <c:layout/>
          <c:overlay val="0"/>
        </c:title>
        <c:numFmt formatCode="0.000"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222222"/>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Nuestro tema es la centralidad y los clientes clave en una red cliente–servicio. La pregunta que queremos responder es simple: ¿qué clientes son los más importantes dentro de esta red,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10,384 registros de servicios consumidos por 5,090 clientes anonimizados, repartidos en siete servicios. Con eso armamos una red donde cada cliente es un nodo y dos clientes se conectan si comparten servicios; el peso del enlace es cuántos comparten. Cada combinación cliente–servicio se cuenta una sola vez, y quedaron 6,301 pares únicos.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hallazgo fue un problema: la red salió demasiado densa, con más de siete millones de enlaces y una densidad de 55%. La causa es que hay solo siete servicios, y SERV_2 y SERV_1 los usa el 58% y el 47% de los clientes, así que casi todos quedan conectados con casi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Probamos quitar esos dos servicios y la densidad no bajó: quedó en 56.7%, y perdíamos más de 4,000 clientes. Entonces miramos los pesos: el 97% de los enlaces eran de peso uno, clientes que coinciden en un solo servicio, algo poco informativo. Conservamos solo los de peso dos o más y la red quedó en 863 clientes y 221,489 enlaces. Esto no baja la densidad, que sigue cerca de 60%: quita ruido y hace la red calculable. El costo es que 4,227 clientes, el 83%, usan un solo servicio y quedan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red final es una sola componente: el diámetro es 3 y la distancia promedio, 1.4, así que cualquiera llega a cualquiera en uno o dos pasos. Además, el clustering es 0.93: los vecinos de un cliente casi siempre están conectados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grado no tiene forma de campana: el 52% de los clientes tiene exactamente el mismo grado, 604, porque todos usan la combinación SERV_1 más SERV_2.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los 863 clientes no se pueden dibujar de forma legible, mostramos una muestra de 40: se ve un núcleo muy compacto y una periferia con pocas conexiones. Ahora veamos qué clientes salen como más centrales.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identificar clientes clave calculamos cuatro medidas de centralidad, y cada una responde una pregunta distinta. El grado: ¿con cuántos clientes está conectado? La cercanía: ¿qué tan cerca está, en promedio, del resto de la red? El autovector: ¿está conectado con clientes que a su vez son importantes? Y la intermediación, que explica la siguiente parte, mide si un cliente funciona como puente. A esto se suma la fuerza, que es el grado contando cuántos servicios se comparten con cada vecino.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el grado. El cliente más conectado es ID_3124, con una centralidad de 0.988: está conectado con casi toda la red. Es el único cliente que usa seis de los siete servicios. Le siguen 14 clientes con cinco servicios, con valores entre 0.97 y 0.98. Todos incluyen SERV_1 y SERV_2 más al menos tres servicios adicionales. Los llamamos hubs: consumen casi todo el portafolio y por eso coinciden con casi todos los demás clientes.
En la fuerza, la cercanía y el autovector, el primer lugar es otra vez ID_3124. La fuerza llega a 2,042 servicios compartidos, y el segundo puesto, con 2,004, lo comparte un grupo de clientes con cinco servicios. El autovector da prácticamente el mismo resultado: 0.0431 para ID_3124 y 0.0430 para ese grupo.
La cercanía va de 0.49 a 0.99, con un promedio de 0.73. Es alta para todos los clientes, y es coherente con que el diámetro de la red sea 3: nadie está lejos de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hallazgo importante: estas cuatro medidas ordenan a los clientes prácticamente igual. La correlación de Spearman entre ellas es 1.00. En una red tan densa, con diámetro 3, estar conectado con muchos clientes es lo mismo que estar cerca de todos y tener vecinos importantes. Por eso son redundantes y basta con reportar una.
Los hubs son 15 clientes con grado superior a 0.97 y, un escalón abajo, 28 clientes con SERV_1, SERV_2, SERV_4 y SERV_5. Pero ¿un cliente muy conectado es necesariamente un cliente clave para mantener la red unida? Eso lo responde la intermediación.
Una aclaración antes de pasar: en los rankings aparecen muchos empates, porque los clientes que usan la misma combinación de servicios tienen exactamente los mismos vecinos y, por lo tanto, la misma centralidad. En esta red, lo que vuelve central a un cliente es tener un perfil amplio de consumo.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intermediación mide cuántos de los caminos más cortos entre otros clientes pasan por un cliente. Es la medida de los puentes. La calculamos sin pesos, porque el peso del enlace indica cuántos servicios se comparten, y eso es similitud, no distancia.
El resultado es muy distinto al de las otras medidas. 633 clientes, el 73% de la red, tienen intermediación cero. Son los que usan solo dos servicios: para ser su vecino hay que compartir esos mismos dos servicios, así que todos sus vecinos ya están conectados entre sí y ningún camino necesita pasar por ellos. Además, está muy concentrada: los 10 primeros acumulan el 16% del total, los 50 primeros el 52% y los 100 primeros el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clientes con mayor intermediación son ID_329 e ID_2982. En grado ocupan los puestos 45 y 54: no son los más conectados. Lo que los distingue es SERV_7, el servicio con menos clientes dentro de la red, solo 16. Al combinarlo con los servicios más comunes, conectan a esos pocos clientes con el núcleo. Son puentes más que hubs. ID_3124 queda tercero, así que es el único cliente que destaca en todas las métricas.
La intermediación tiene una correlación de solo 0.51 con las demás, es decir, aporta información distinta. Por eso identificamos clientes clave con dos criterios: grado para los hubs e intermediación para los puentes.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más: en esta red, los clientes con la misma combinación de servicios tienen exactamente la misma centralidad. Hay 47 combinaciones distintas, así que los clientes clave se describen mejor como perfiles de consumo. Lo que más pesa no es solo cuántos servicios usa el cliente, sino cuáles: los clientes con cinco servicios tienen un grado promedio de 0.97, pero los de cuatro servicios, con 0.66, quedan por debajo de los de tres. Lo que marca la diferencia es incluir SERV_1 y SERV_2 a la vez, que son los que usa la mayoría de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Tenemos tres limitaciones. Primero, los 4,227 clientes con un solo servicio no tienen centralidad en este análisis. Segundo, como pedimos un peso mínimo de dos, la centralidad depende casi por completo de la combinación de servicios y refleja la amplitud de consumo. Tercero, hay muchos empates en los rankings. Para el Hito 2 queda ver cómo cambia la centralidad por año y su relación con la modalidad y la complejidad de los servicios.
En resumen: identificamos dos tipos de clientes clave, hubs y puentes, y mostramos que estar muy conectado no es lo mismo que ser un puente.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pic>
        <p:nvPicPr>
          <p:cNvPr id="2" name="Image 0" descr="/home/claude/docx_proj/deck/titulo_red.png">    </p:cNvPr>
          <p:cNvPicPr>
            <a:picLocks noChangeAspect="1"/>
          </p:cNvPicPr>
          <p:nvPr/>
        </p:nvPicPr>
        <p:blipFill>
          <a:blip r:embed="rId1"/>
          <a:stretch>
            <a:fillRect/>
          </a:stretch>
        </p:blipFill>
        <p:spPr>
          <a:xfrm>
            <a:off x="6766560" y="522168"/>
            <a:ext cx="5394960" cy="5356464"/>
          </a:xfrm>
          <a:prstGeom prst="rect">
            <a:avLst/>
          </a:prstGeom>
        </p:spPr>
      </p:pic>
      <p:sp>
        <p:nvSpPr>
          <p:cNvPr id="3" name="Text 0"/>
          <p:cNvSpPr txBox="1"/>
          <p:nvPr/>
        </p:nvSpPr>
        <p:spPr>
          <a:xfrm>
            <a:off x="640080" y="1554480"/>
            <a:ext cx="5852160" cy="365760"/>
          </a:xfrm>
          <a:prstGeom prst="rect">
            <a:avLst/>
          </a:prstGeom>
          <a:noFill/>
          <a:ln/>
        </p:spPr>
        <p:txBody>
          <a:bodyPr wrap="square" lIns="0" tIns="0" rIns="0" bIns="0" rtlCol="0" anchor="ctr"/>
          <a:lstStyle/>
          <a:p>
            <a:pPr indent="0" marL="0">
              <a:buNone/>
            </a:pPr>
            <a:r>
              <a:rPr lang="en-US" sz="1400" b="1" spc="400" kern="0" dirty="0">
                <a:solidFill>
                  <a:srgbClr val="DA291C"/>
                </a:solidFill>
                <a:latin typeface="Calibri" pitchFamily="34" charset="0"/>
                <a:ea typeface="Calibri" pitchFamily="34" charset="-122"/>
                <a:cs typeface="Calibri" pitchFamily="34" charset="-120"/>
              </a:rPr>
              <a:t>HITO 1 · REDES COMPLEJAS</a:t>
            </a:r>
            <a:endParaRPr lang="en-US" sz="1400" dirty="0"/>
          </a:p>
        </p:txBody>
      </p:sp>
      <p:sp>
        <p:nvSpPr>
          <p:cNvPr id="4" name="Text 1"/>
          <p:cNvSpPr txBox="1"/>
          <p:nvPr/>
        </p:nvSpPr>
        <p:spPr>
          <a:xfrm>
            <a:off x="640080" y="2011680"/>
            <a:ext cx="5943600" cy="1920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¿Quiénes son los clientes clave de la red?</a:t>
            </a:r>
            <a:endParaRPr lang="en-US" sz="4400" dirty="0"/>
          </a:p>
        </p:txBody>
      </p:sp>
      <p:sp>
        <p:nvSpPr>
          <p:cNvPr id="5" name="Text 2"/>
          <p:cNvSpPr txBox="1"/>
          <p:nvPr/>
        </p:nvSpPr>
        <p:spPr>
          <a:xfrm>
            <a:off x="640080" y="4114800"/>
            <a:ext cx="5852160" cy="457200"/>
          </a:xfrm>
          <a:prstGeom prst="rect">
            <a:avLst/>
          </a:prstGeom>
          <a:noFill/>
          <a:ln/>
        </p:spPr>
        <p:txBody>
          <a:bodyPr wrap="square" lIns="0" tIns="0" rIns="0" bIns="0" rtlCol="0" anchor="ctr"/>
          <a:lstStyle/>
          <a:p>
            <a:pPr indent="0" marL="0">
              <a:buNone/>
            </a:pPr>
            <a:r>
              <a:rPr lang="en-US" sz="2000" dirty="0">
                <a:solidFill>
                  <a:srgbClr val="D9D9D9"/>
                </a:solidFill>
                <a:latin typeface="Calibri" pitchFamily="34" charset="0"/>
                <a:ea typeface="Calibri" pitchFamily="34" charset="-122"/>
                <a:cs typeface="Calibri" pitchFamily="34" charset="-120"/>
              </a:rPr>
              <a:t>Centralidad en la red cliente–servicio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Con 10,384 registros armamos una red donde los clientes se unen por los servicios que comparten</a:t>
            </a:r>
            <a:endParaRPr lang="en-US" sz="3000" dirty="0"/>
          </a:p>
        </p:txBody>
      </p:sp>
      <p:sp>
        <p:nvSpPr>
          <p:cNvPr id="3" name="Shape 1"/>
          <p:cNvSpPr/>
          <p:nvPr/>
        </p:nvSpPr>
        <p:spPr>
          <a:xfrm>
            <a:off x="1325880" y="2583180"/>
            <a:ext cx="2240280" cy="365760"/>
          </a:xfrm>
          <a:prstGeom prst="line">
            <a:avLst/>
          </a:prstGeom>
          <a:noFill/>
          <a:ln w="19050">
            <a:solidFill>
              <a:srgbClr val="BDBDBD"/>
            </a:solidFill>
            <a:prstDash val="solid"/>
          </a:ln>
        </p:spPr>
      </p:sp>
      <p:sp>
        <p:nvSpPr>
          <p:cNvPr id="4" name="Shape 2"/>
          <p:cNvSpPr/>
          <p:nvPr/>
        </p:nvSpPr>
        <p:spPr>
          <a:xfrm flipV="1">
            <a:off x="1325880" y="2948940"/>
            <a:ext cx="2240280" cy="365760"/>
          </a:xfrm>
          <a:prstGeom prst="line">
            <a:avLst/>
          </a:prstGeom>
          <a:noFill/>
          <a:ln w="19050">
            <a:solidFill>
              <a:srgbClr val="BDBDBD"/>
            </a:solidFill>
            <a:prstDash val="solid"/>
          </a:ln>
        </p:spPr>
      </p:sp>
      <p:sp>
        <p:nvSpPr>
          <p:cNvPr id="5" name="Shape 3"/>
          <p:cNvSpPr/>
          <p:nvPr/>
        </p:nvSpPr>
        <p:spPr>
          <a:xfrm>
            <a:off x="1325880" y="3314700"/>
            <a:ext cx="2240280" cy="365760"/>
          </a:xfrm>
          <a:prstGeom prst="line">
            <a:avLst/>
          </a:prstGeom>
          <a:noFill/>
          <a:ln w="19050">
            <a:solidFill>
              <a:srgbClr val="BDBDBD"/>
            </a:solidFill>
            <a:prstDash val="solid"/>
          </a:ln>
        </p:spPr>
      </p:sp>
      <p:sp>
        <p:nvSpPr>
          <p:cNvPr id="6" name="Shape 4"/>
          <p:cNvSpPr/>
          <p:nvPr/>
        </p:nvSpPr>
        <p:spPr>
          <a:xfrm flipV="1">
            <a:off x="1325880" y="3680460"/>
            <a:ext cx="2240280" cy="365760"/>
          </a:xfrm>
          <a:prstGeom prst="line">
            <a:avLst/>
          </a:prstGeom>
          <a:noFill/>
          <a:ln w="19050">
            <a:solidFill>
              <a:srgbClr val="BDBDBD"/>
            </a:solidFill>
            <a:prstDash val="solid"/>
          </a:ln>
        </p:spPr>
      </p:sp>
      <p:sp>
        <p:nvSpPr>
          <p:cNvPr id="7" name="Shape 5"/>
          <p:cNvSpPr/>
          <p:nvPr/>
        </p:nvSpPr>
        <p:spPr>
          <a:xfrm>
            <a:off x="1325880" y="4046220"/>
            <a:ext cx="2240280" cy="365760"/>
          </a:xfrm>
          <a:prstGeom prst="line">
            <a:avLst/>
          </a:prstGeom>
          <a:noFill/>
          <a:ln w="19050">
            <a:solidFill>
              <a:srgbClr val="BDBDBD"/>
            </a:solidFill>
            <a:prstDash val="solid"/>
          </a:ln>
        </p:spPr>
      </p:sp>
      <p:sp>
        <p:nvSpPr>
          <p:cNvPr id="8" name="Shape 6"/>
          <p:cNvSpPr/>
          <p:nvPr/>
        </p:nvSpPr>
        <p:spPr>
          <a:xfrm flipV="1">
            <a:off x="1325880" y="4411980"/>
            <a:ext cx="2240280" cy="365760"/>
          </a:xfrm>
          <a:prstGeom prst="line">
            <a:avLst/>
          </a:prstGeom>
          <a:noFill/>
          <a:ln w="19050">
            <a:solidFill>
              <a:srgbClr val="BDBDBD"/>
            </a:solidFill>
            <a:prstDash val="solid"/>
          </a:ln>
        </p:spPr>
      </p:sp>
      <p:sp>
        <p:nvSpPr>
          <p:cNvPr id="9" name="Shape 7"/>
          <p:cNvSpPr/>
          <p:nvPr/>
        </p:nvSpPr>
        <p:spPr>
          <a:xfrm>
            <a:off x="822960" y="2331720"/>
            <a:ext cx="502920" cy="502920"/>
          </a:xfrm>
          <a:prstGeom prst="ellipse">
            <a:avLst/>
          </a:prstGeom>
          <a:solidFill>
            <a:srgbClr val="222222"/>
          </a:solidFill>
          <a:ln w="12700">
            <a:solidFill>
              <a:srgbClr val="FFFFFF"/>
            </a:solidFill>
            <a:prstDash val="solid"/>
          </a:ln>
        </p:spPr>
      </p:sp>
      <p:sp>
        <p:nvSpPr>
          <p:cNvPr id="10" name="Shape 8"/>
          <p:cNvSpPr/>
          <p:nvPr/>
        </p:nvSpPr>
        <p:spPr>
          <a:xfrm>
            <a:off x="822960" y="3063240"/>
            <a:ext cx="502920" cy="502920"/>
          </a:xfrm>
          <a:prstGeom prst="ellipse">
            <a:avLst/>
          </a:prstGeom>
          <a:solidFill>
            <a:srgbClr val="222222"/>
          </a:solidFill>
          <a:ln w="12700">
            <a:solidFill>
              <a:srgbClr val="FFFFFF"/>
            </a:solidFill>
            <a:prstDash val="solid"/>
          </a:ln>
        </p:spPr>
      </p:sp>
      <p:sp>
        <p:nvSpPr>
          <p:cNvPr id="11" name="Shape 9"/>
          <p:cNvSpPr/>
          <p:nvPr/>
        </p:nvSpPr>
        <p:spPr>
          <a:xfrm>
            <a:off x="822960" y="3794760"/>
            <a:ext cx="502920" cy="502920"/>
          </a:xfrm>
          <a:prstGeom prst="ellipse">
            <a:avLst/>
          </a:prstGeom>
          <a:solidFill>
            <a:srgbClr val="222222"/>
          </a:solidFill>
          <a:ln w="12700">
            <a:solidFill>
              <a:srgbClr val="FFFFFF"/>
            </a:solidFill>
            <a:prstDash val="solid"/>
          </a:ln>
        </p:spPr>
      </p:sp>
      <p:sp>
        <p:nvSpPr>
          <p:cNvPr id="12" name="Shape 10"/>
          <p:cNvSpPr/>
          <p:nvPr/>
        </p:nvSpPr>
        <p:spPr>
          <a:xfrm>
            <a:off x="822960" y="4526280"/>
            <a:ext cx="502920" cy="502920"/>
          </a:xfrm>
          <a:prstGeom prst="ellipse">
            <a:avLst/>
          </a:prstGeom>
          <a:solidFill>
            <a:srgbClr val="222222"/>
          </a:solidFill>
          <a:ln w="12700">
            <a:solidFill>
              <a:srgbClr val="FFFFFF"/>
            </a:solidFill>
            <a:prstDash val="solid"/>
          </a:ln>
        </p:spPr>
      </p:sp>
      <p:sp>
        <p:nvSpPr>
          <p:cNvPr id="13" name="Shape 11"/>
          <p:cNvSpPr/>
          <p:nvPr/>
        </p:nvSpPr>
        <p:spPr>
          <a:xfrm>
            <a:off x="3566160" y="2697480"/>
            <a:ext cx="502920" cy="502920"/>
          </a:xfrm>
          <a:prstGeom prst="ellipse">
            <a:avLst/>
          </a:prstGeom>
          <a:solidFill>
            <a:srgbClr val="DA291C"/>
          </a:solidFill>
          <a:ln w="12700">
            <a:solidFill>
              <a:srgbClr val="FFFFFF"/>
            </a:solidFill>
            <a:prstDash val="solid"/>
          </a:ln>
        </p:spPr>
      </p:sp>
      <p:sp>
        <p:nvSpPr>
          <p:cNvPr id="14" name="Shape 12"/>
          <p:cNvSpPr/>
          <p:nvPr/>
        </p:nvSpPr>
        <p:spPr>
          <a:xfrm>
            <a:off x="3566160" y="3429000"/>
            <a:ext cx="502920" cy="502920"/>
          </a:xfrm>
          <a:prstGeom prst="ellipse">
            <a:avLst/>
          </a:prstGeom>
          <a:solidFill>
            <a:srgbClr val="DA291C"/>
          </a:solidFill>
          <a:ln w="12700">
            <a:solidFill>
              <a:srgbClr val="FFFFFF"/>
            </a:solidFill>
            <a:prstDash val="solid"/>
          </a:ln>
        </p:spPr>
      </p:sp>
      <p:sp>
        <p:nvSpPr>
          <p:cNvPr id="15" name="Shape 13"/>
          <p:cNvSpPr/>
          <p:nvPr/>
        </p:nvSpPr>
        <p:spPr>
          <a:xfrm>
            <a:off x="3566160" y="4160520"/>
            <a:ext cx="502920" cy="502920"/>
          </a:xfrm>
          <a:prstGeom prst="ellipse">
            <a:avLst/>
          </a:prstGeom>
          <a:solidFill>
            <a:srgbClr val="DA291C"/>
          </a:solidFill>
          <a:ln w="12700">
            <a:solidFill>
              <a:srgbClr val="FFFFFF"/>
            </a:solidFill>
            <a:prstDash val="solid"/>
          </a:ln>
        </p:spPr>
      </p:sp>
      <p:sp>
        <p:nvSpPr>
          <p:cNvPr id="16" name="Text 14"/>
          <p:cNvSpPr txBox="1"/>
          <p:nvPr/>
        </p:nvSpPr>
        <p:spPr>
          <a:xfrm>
            <a:off x="548640" y="5166360"/>
            <a:ext cx="1097280" cy="320040"/>
          </a:xfrm>
          <a:prstGeom prst="rect">
            <a:avLst/>
          </a:prstGeom>
          <a:noFill/>
          <a:ln/>
        </p:spPr>
        <p:txBody>
          <a:bodyPr wrap="square" lIns="0" tIns="0" rIns="0" bIns="0" rtlCol="0" anchor="ctr"/>
          <a:lstStyle/>
          <a:p>
            <a:pPr algn="ctr" indent="0" marL="0">
              <a:buNone/>
            </a:pPr>
            <a:r>
              <a:rPr lang="en-US" sz="1400" b="1" dirty="0">
                <a:solidFill>
                  <a:srgbClr val="222222"/>
                </a:solidFill>
                <a:latin typeface="Calibri" pitchFamily="34" charset="0"/>
                <a:ea typeface="Calibri" pitchFamily="34" charset="-122"/>
                <a:cs typeface="Calibri" pitchFamily="34" charset="-120"/>
              </a:rPr>
              <a:t>Clientes</a:t>
            </a:r>
            <a:endParaRPr lang="en-US" sz="1400" dirty="0"/>
          </a:p>
        </p:txBody>
      </p:sp>
      <p:sp>
        <p:nvSpPr>
          <p:cNvPr id="17" name="Text 15"/>
          <p:cNvSpPr txBox="1"/>
          <p:nvPr/>
        </p:nvSpPr>
        <p:spPr>
          <a:xfrm>
            <a:off x="3291840" y="5166360"/>
            <a:ext cx="1097280" cy="320040"/>
          </a:xfrm>
          <a:prstGeom prst="rect">
            <a:avLst/>
          </a:prstGeom>
          <a:noFill/>
          <a:ln/>
        </p:spPr>
        <p:txBody>
          <a:bodyPr wrap="square" lIns="0" tIns="0" rIns="0" bIns="0" rtlCol="0" anchor="ctr"/>
          <a:lstStyle/>
          <a:p>
            <a:pPr algn="ctr" indent="0" marL="0">
              <a:buNone/>
            </a:pPr>
            <a:r>
              <a:rPr lang="en-US" sz="1400" b="1" dirty="0">
                <a:solidFill>
                  <a:srgbClr val="DA291C"/>
                </a:solidFill>
                <a:latin typeface="Calibri" pitchFamily="34" charset="0"/>
                <a:ea typeface="Calibri" pitchFamily="34" charset="-122"/>
                <a:cs typeface="Calibri" pitchFamily="34" charset="-120"/>
              </a:rPr>
              <a:t>Servicios</a:t>
            </a:r>
            <a:endParaRPr lang="en-US" sz="1400" dirty="0"/>
          </a:p>
        </p:txBody>
      </p:sp>
      <p:sp>
        <p:nvSpPr>
          <p:cNvPr id="18" name="Shape 16"/>
          <p:cNvSpPr/>
          <p:nvPr/>
        </p:nvSpPr>
        <p:spPr>
          <a:xfrm>
            <a:off x="4663440" y="3383280"/>
            <a:ext cx="822960" cy="502920"/>
          </a:xfrm>
          <a:prstGeom prst="rightArrow">
            <a:avLst/>
          </a:prstGeom>
          <a:solidFill>
            <a:srgbClr val="BDBDBD"/>
          </a:solidFill>
          <a:ln w="12700">
            <a:solidFill>
              <a:srgbClr val="BDBDBD"/>
            </a:solidFill>
            <a:prstDash val="solid"/>
          </a:ln>
        </p:spPr>
      </p:sp>
      <p:sp>
        <p:nvSpPr>
          <p:cNvPr id="19" name="Shape 17"/>
          <p:cNvSpPr/>
          <p:nvPr/>
        </p:nvSpPr>
        <p:spPr>
          <a:xfrm flipV="1">
            <a:off x="6195060" y="2766060"/>
            <a:ext cx="1097280" cy="731520"/>
          </a:xfrm>
          <a:prstGeom prst="line">
            <a:avLst/>
          </a:prstGeom>
          <a:noFill/>
          <a:ln w="25400">
            <a:solidFill>
              <a:srgbClr val="BDBDBD"/>
            </a:solidFill>
            <a:prstDash val="solid"/>
          </a:ln>
        </p:spPr>
      </p:sp>
      <p:sp>
        <p:nvSpPr>
          <p:cNvPr id="20" name="Shape 18"/>
          <p:cNvSpPr/>
          <p:nvPr/>
        </p:nvSpPr>
        <p:spPr>
          <a:xfrm>
            <a:off x="6195060" y="3497580"/>
            <a:ext cx="1280160" cy="731520"/>
          </a:xfrm>
          <a:prstGeom prst="line">
            <a:avLst/>
          </a:prstGeom>
          <a:noFill/>
          <a:ln w="25400">
            <a:solidFill>
              <a:srgbClr val="BDBDBD"/>
            </a:solidFill>
            <a:prstDash val="solid"/>
          </a:ln>
        </p:spPr>
      </p:sp>
      <p:sp>
        <p:nvSpPr>
          <p:cNvPr id="21" name="Shape 19"/>
          <p:cNvSpPr/>
          <p:nvPr/>
        </p:nvSpPr>
        <p:spPr>
          <a:xfrm>
            <a:off x="6195060" y="3497580"/>
            <a:ext cx="91440" cy="1005840"/>
          </a:xfrm>
          <a:prstGeom prst="line">
            <a:avLst/>
          </a:prstGeom>
          <a:noFill/>
          <a:ln w="25400">
            <a:solidFill>
              <a:srgbClr val="BDBDBD"/>
            </a:solidFill>
            <a:prstDash val="solid"/>
          </a:ln>
        </p:spPr>
      </p:sp>
      <p:sp>
        <p:nvSpPr>
          <p:cNvPr id="22" name="Shape 20"/>
          <p:cNvSpPr/>
          <p:nvPr/>
        </p:nvSpPr>
        <p:spPr>
          <a:xfrm>
            <a:off x="7292340" y="2766060"/>
            <a:ext cx="182880" cy="1463040"/>
          </a:xfrm>
          <a:prstGeom prst="line">
            <a:avLst/>
          </a:prstGeom>
          <a:noFill/>
          <a:ln w="25400">
            <a:solidFill>
              <a:srgbClr val="BDBDBD"/>
            </a:solidFill>
            <a:prstDash val="solid"/>
          </a:ln>
        </p:spPr>
      </p:sp>
      <p:sp>
        <p:nvSpPr>
          <p:cNvPr id="23" name="Shape 21"/>
          <p:cNvSpPr/>
          <p:nvPr/>
        </p:nvSpPr>
        <p:spPr>
          <a:xfrm flipV="1">
            <a:off x="6286500" y="4229100"/>
            <a:ext cx="1188720" cy="274320"/>
          </a:xfrm>
          <a:prstGeom prst="line">
            <a:avLst/>
          </a:prstGeom>
          <a:noFill/>
          <a:ln w="25400">
            <a:solidFill>
              <a:srgbClr val="BDBDBD"/>
            </a:solidFill>
            <a:prstDash val="solid"/>
          </a:ln>
        </p:spPr>
      </p:sp>
      <p:sp>
        <p:nvSpPr>
          <p:cNvPr id="24" name="Shape 22"/>
          <p:cNvSpPr/>
          <p:nvPr/>
        </p:nvSpPr>
        <p:spPr>
          <a:xfrm>
            <a:off x="5943600" y="3246120"/>
            <a:ext cx="502920" cy="502920"/>
          </a:xfrm>
          <a:prstGeom prst="ellipse">
            <a:avLst/>
          </a:prstGeom>
          <a:solidFill>
            <a:srgbClr val="222222"/>
          </a:solidFill>
          <a:ln w="12700">
            <a:solidFill>
              <a:srgbClr val="FFFFFF"/>
            </a:solidFill>
            <a:prstDash val="solid"/>
          </a:ln>
        </p:spPr>
      </p:sp>
      <p:sp>
        <p:nvSpPr>
          <p:cNvPr id="25" name="Shape 23"/>
          <p:cNvSpPr/>
          <p:nvPr/>
        </p:nvSpPr>
        <p:spPr>
          <a:xfrm>
            <a:off x="7040880" y="2514600"/>
            <a:ext cx="502920" cy="502920"/>
          </a:xfrm>
          <a:prstGeom prst="ellipse">
            <a:avLst/>
          </a:prstGeom>
          <a:solidFill>
            <a:srgbClr val="222222"/>
          </a:solidFill>
          <a:ln w="12700">
            <a:solidFill>
              <a:srgbClr val="FFFFFF"/>
            </a:solidFill>
            <a:prstDash val="solid"/>
          </a:ln>
        </p:spPr>
      </p:sp>
      <p:sp>
        <p:nvSpPr>
          <p:cNvPr id="26" name="Shape 24"/>
          <p:cNvSpPr/>
          <p:nvPr/>
        </p:nvSpPr>
        <p:spPr>
          <a:xfrm>
            <a:off x="7223760" y="3977640"/>
            <a:ext cx="502920" cy="502920"/>
          </a:xfrm>
          <a:prstGeom prst="ellipse">
            <a:avLst/>
          </a:prstGeom>
          <a:solidFill>
            <a:srgbClr val="222222"/>
          </a:solidFill>
          <a:ln w="12700">
            <a:solidFill>
              <a:srgbClr val="FFFFFF"/>
            </a:solidFill>
            <a:prstDash val="solid"/>
          </a:ln>
        </p:spPr>
      </p:sp>
      <p:sp>
        <p:nvSpPr>
          <p:cNvPr id="27" name="Shape 25"/>
          <p:cNvSpPr/>
          <p:nvPr/>
        </p:nvSpPr>
        <p:spPr>
          <a:xfrm>
            <a:off x="6035040" y="4251960"/>
            <a:ext cx="502920" cy="502920"/>
          </a:xfrm>
          <a:prstGeom prst="ellipse">
            <a:avLst/>
          </a:prstGeom>
          <a:solidFill>
            <a:srgbClr val="222222"/>
          </a:solidFill>
          <a:ln w="12700">
            <a:solidFill>
              <a:srgbClr val="FFFFFF"/>
            </a:solidFill>
            <a:prstDash val="solid"/>
          </a:ln>
        </p:spPr>
      </p:sp>
      <p:sp>
        <p:nvSpPr>
          <p:cNvPr id="28" name="Text 26"/>
          <p:cNvSpPr txBox="1"/>
          <p:nvPr/>
        </p:nvSpPr>
        <p:spPr>
          <a:xfrm>
            <a:off x="5852160" y="5166360"/>
            <a:ext cx="2011680" cy="320040"/>
          </a:xfrm>
          <a:prstGeom prst="rect">
            <a:avLst/>
          </a:prstGeom>
          <a:noFill/>
          <a:ln/>
        </p:spPr>
        <p:txBody>
          <a:bodyPr wrap="square" lIns="0" tIns="0" rIns="0" bIns="0" rtlCol="0" anchor="ctr"/>
          <a:lstStyle/>
          <a:p>
            <a:pPr algn="ctr" indent="0" marL="0">
              <a:buNone/>
            </a:pPr>
            <a:r>
              <a:rPr lang="en-US" sz="1400" b="1" dirty="0">
                <a:solidFill>
                  <a:srgbClr val="222222"/>
                </a:solidFill>
                <a:latin typeface="Calibri" pitchFamily="34" charset="0"/>
                <a:ea typeface="Calibri" pitchFamily="34" charset="-122"/>
                <a:cs typeface="Calibri" pitchFamily="34" charset="-120"/>
              </a:rPr>
              <a:t>Cliente–cliente</a:t>
            </a:r>
            <a:endParaRPr lang="en-US" sz="1400" dirty="0"/>
          </a:p>
        </p:txBody>
      </p:sp>
      <p:sp>
        <p:nvSpPr>
          <p:cNvPr id="29" name="Text 27"/>
          <p:cNvSpPr txBox="1"/>
          <p:nvPr/>
        </p:nvSpPr>
        <p:spPr>
          <a:xfrm>
            <a:off x="5532120" y="5532120"/>
            <a:ext cx="2743200" cy="64008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Dos clientes se conectan si comparten servicios; el peso es cuántos.</a:t>
            </a:r>
            <a:endParaRPr lang="en-US" sz="1200" dirty="0"/>
          </a:p>
        </p:txBody>
      </p:sp>
      <p:sp>
        <p:nvSpPr>
          <p:cNvPr id="30" name="Text 28"/>
          <p:cNvSpPr txBox="1"/>
          <p:nvPr/>
        </p:nvSpPr>
        <p:spPr>
          <a:xfrm>
            <a:off x="9098280" y="2194560"/>
            <a:ext cx="2468880" cy="548640"/>
          </a:xfrm>
          <a:prstGeom prst="rect">
            <a:avLst/>
          </a:prstGeom>
          <a:noFill/>
          <a:ln/>
        </p:spPr>
        <p:txBody>
          <a:bodyPr wrap="square" lIns="0" tIns="0" rIns="0" bIns="0" rtlCol="0" anchor="b"/>
          <a:lstStyle/>
          <a:p>
            <a:pPr indent="0" marL="0">
              <a:buNone/>
            </a:pPr>
            <a:r>
              <a:rPr lang="en-US" sz="3400" b="1" dirty="0">
                <a:solidFill>
                  <a:srgbClr val="DA291C"/>
                </a:solidFill>
                <a:latin typeface="Arial" pitchFamily="34" charset="0"/>
                <a:ea typeface="Arial" pitchFamily="34" charset="-122"/>
                <a:cs typeface="Arial" pitchFamily="34" charset="-120"/>
              </a:rPr>
              <a:t>10,384</a:t>
            </a:r>
            <a:endParaRPr lang="en-US" sz="3400" dirty="0"/>
          </a:p>
        </p:txBody>
      </p:sp>
      <p:sp>
        <p:nvSpPr>
          <p:cNvPr id="31" name="Text 29"/>
          <p:cNvSpPr txBox="1"/>
          <p:nvPr/>
        </p:nvSpPr>
        <p:spPr>
          <a:xfrm>
            <a:off x="9098280" y="2743200"/>
            <a:ext cx="2560320" cy="32004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registros de consumo</a:t>
            </a:r>
            <a:endParaRPr lang="en-US" sz="1400" dirty="0"/>
          </a:p>
        </p:txBody>
      </p:sp>
      <p:sp>
        <p:nvSpPr>
          <p:cNvPr id="32" name="Text 30"/>
          <p:cNvSpPr txBox="1"/>
          <p:nvPr/>
        </p:nvSpPr>
        <p:spPr>
          <a:xfrm>
            <a:off x="9098280" y="3218688"/>
            <a:ext cx="2468880" cy="548640"/>
          </a:xfrm>
          <a:prstGeom prst="rect">
            <a:avLst/>
          </a:prstGeom>
          <a:noFill/>
          <a:ln/>
        </p:spPr>
        <p:txBody>
          <a:bodyPr wrap="square" lIns="0" tIns="0" rIns="0" bIns="0" rtlCol="0" anchor="b"/>
          <a:lstStyle/>
          <a:p>
            <a:pPr indent="0" marL="0">
              <a:buNone/>
            </a:pPr>
            <a:r>
              <a:rPr lang="en-US" sz="3400" b="1" dirty="0">
                <a:solidFill>
                  <a:srgbClr val="DA291C"/>
                </a:solidFill>
                <a:latin typeface="Arial" pitchFamily="34" charset="0"/>
                <a:ea typeface="Arial" pitchFamily="34" charset="-122"/>
                <a:cs typeface="Arial" pitchFamily="34" charset="-120"/>
              </a:rPr>
              <a:t>5,090</a:t>
            </a:r>
            <a:endParaRPr lang="en-US" sz="3400" dirty="0"/>
          </a:p>
        </p:txBody>
      </p:sp>
      <p:sp>
        <p:nvSpPr>
          <p:cNvPr id="33" name="Text 31"/>
          <p:cNvSpPr txBox="1"/>
          <p:nvPr/>
        </p:nvSpPr>
        <p:spPr>
          <a:xfrm>
            <a:off x="9098280" y="3767328"/>
            <a:ext cx="2560320" cy="32004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clientes anonimizados</a:t>
            </a:r>
            <a:endParaRPr lang="en-US" sz="1400" dirty="0"/>
          </a:p>
        </p:txBody>
      </p:sp>
      <p:sp>
        <p:nvSpPr>
          <p:cNvPr id="34" name="Text 32"/>
          <p:cNvSpPr txBox="1"/>
          <p:nvPr/>
        </p:nvSpPr>
        <p:spPr>
          <a:xfrm>
            <a:off x="9098280" y="4242816"/>
            <a:ext cx="2468880" cy="548640"/>
          </a:xfrm>
          <a:prstGeom prst="rect">
            <a:avLst/>
          </a:prstGeom>
          <a:noFill/>
          <a:ln/>
        </p:spPr>
        <p:txBody>
          <a:bodyPr wrap="square" lIns="0" tIns="0" rIns="0" bIns="0" rtlCol="0" anchor="b"/>
          <a:lstStyle/>
          <a:p>
            <a:pPr indent="0" marL="0">
              <a:buNone/>
            </a:pPr>
            <a:r>
              <a:rPr lang="en-US" sz="3400" b="1" dirty="0">
                <a:solidFill>
                  <a:srgbClr val="DA291C"/>
                </a:solidFill>
                <a:latin typeface="Arial" pitchFamily="34" charset="0"/>
                <a:ea typeface="Arial" pitchFamily="34" charset="-122"/>
                <a:cs typeface="Arial" pitchFamily="34" charset="-120"/>
              </a:rPr>
              <a:t>7</a:t>
            </a:r>
            <a:endParaRPr lang="en-US" sz="3400" dirty="0"/>
          </a:p>
        </p:txBody>
      </p:sp>
      <p:sp>
        <p:nvSpPr>
          <p:cNvPr id="35" name="Text 33"/>
          <p:cNvSpPr txBox="1"/>
          <p:nvPr/>
        </p:nvSpPr>
        <p:spPr>
          <a:xfrm>
            <a:off x="9098280" y="4791456"/>
            <a:ext cx="2560320" cy="32004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servicios (SERV_1 a SERV_7)</a:t>
            </a:r>
            <a:endParaRPr lang="en-US" sz="1400" dirty="0"/>
          </a:p>
        </p:txBody>
      </p:sp>
      <p:sp>
        <p:nvSpPr>
          <p:cNvPr id="36" name="Text 34"/>
          <p:cNvSpPr txBox="1"/>
          <p:nvPr/>
        </p:nvSpPr>
        <p:spPr>
          <a:xfrm>
            <a:off x="9098280" y="5266944"/>
            <a:ext cx="2468880" cy="548640"/>
          </a:xfrm>
          <a:prstGeom prst="rect">
            <a:avLst/>
          </a:prstGeom>
          <a:noFill/>
          <a:ln/>
        </p:spPr>
        <p:txBody>
          <a:bodyPr wrap="square" lIns="0" tIns="0" rIns="0" bIns="0" rtlCol="0" anchor="b"/>
          <a:lstStyle/>
          <a:p>
            <a:pPr indent="0" marL="0">
              <a:buNone/>
            </a:pPr>
            <a:r>
              <a:rPr lang="en-US" sz="3400" b="1" dirty="0">
                <a:solidFill>
                  <a:srgbClr val="DA291C"/>
                </a:solidFill>
                <a:latin typeface="Arial" pitchFamily="34" charset="0"/>
                <a:ea typeface="Arial" pitchFamily="34" charset="-122"/>
                <a:cs typeface="Arial" pitchFamily="34" charset="-120"/>
              </a:rPr>
              <a:t>6,301</a:t>
            </a:r>
            <a:endParaRPr lang="en-US" sz="3400" dirty="0"/>
          </a:p>
        </p:txBody>
      </p:sp>
      <p:sp>
        <p:nvSpPr>
          <p:cNvPr id="37" name="Text 35"/>
          <p:cNvSpPr txBox="1"/>
          <p:nvPr/>
        </p:nvSpPr>
        <p:spPr>
          <a:xfrm>
            <a:off x="9098280" y="5815584"/>
            <a:ext cx="2560320" cy="32004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pares únicos cliente–servicio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El primer hallazgo: la red sale demasiado densa, y quitar servicios no lo arregla</a:t>
            </a:r>
            <a:endParaRPr lang="en-US" sz="3000" dirty="0"/>
          </a:p>
        </p:txBody>
      </p:sp>
      <p:sp>
        <p:nvSpPr>
          <p:cNvPr id="3" name="Shape 1"/>
          <p:cNvSpPr/>
          <p:nvPr/>
        </p:nvSpPr>
        <p:spPr>
          <a:xfrm>
            <a:off x="640080" y="1874520"/>
            <a:ext cx="3520440" cy="3246120"/>
          </a:xfrm>
          <a:prstGeom prst="roundRect">
            <a:avLst>
              <a:gd name="adj" fmla="val 3380"/>
            </a:avLst>
          </a:prstGeom>
          <a:solidFill>
            <a:srgbClr val="F3F3F3"/>
          </a:solidFill>
          <a:ln w="12700">
            <a:solidFill>
              <a:srgbClr val="F3F3F3"/>
            </a:solidFill>
            <a:prstDash val="solid"/>
          </a:ln>
        </p:spPr>
      </p:sp>
      <p:sp>
        <p:nvSpPr>
          <p:cNvPr id="4" name="Text 2"/>
          <p:cNvSpPr txBox="1"/>
          <p:nvPr/>
        </p:nvSpPr>
        <p:spPr>
          <a:xfrm>
            <a:off x="914400" y="2103120"/>
            <a:ext cx="2971800"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Proyección completa</a:t>
            </a:r>
            <a:endParaRPr lang="en-US" sz="1600" dirty="0"/>
          </a:p>
        </p:txBody>
      </p:sp>
      <p:sp>
        <p:nvSpPr>
          <p:cNvPr id="5" name="Text 3"/>
          <p:cNvSpPr txBox="1"/>
          <p:nvPr/>
        </p:nvSpPr>
        <p:spPr>
          <a:xfrm>
            <a:off x="914400" y="2560320"/>
            <a:ext cx="2971800" cy="914400"/>
          </a:xfrm>
          <a:prstGeom prst="rect">
            <a:avLst/>
          </a:prstGeom>
          <a:noFill/>
          <a:ln/>
        </p:spPr>
        <p:txBody>
          <a:bodyPr wrap="square" lIns="0" tIns="0" rIns="0" bIns="0" rtlCol="0" anchor="ctr"/>
          <a:lstStyle/>
          <a:p>
            <a:pPr indent="0" marL="0">
              <a:buNone/>
            </a:pPr>
            <a:r>
              <a:rPr lang="en-US" sz="5400" b="1" dirty="0">
                <a:solidFill>
                  <a:srgbClr val="DA291C"/>
                </a:solidFill>
                <a:latin typeface="Arial" pitchFamily="34" charset="0"/>
                <a:ea typeface="Arial" pitchFamily="34" charset="-122"/>
                <a:cs typeface="Arial" pitchFamily="34" charset="-120"/>
              </a:rPr>
              <a:t>55.5%</a:t>
            </a:r>
            <a:endParaRPr lang="en-US" sz="5400" dirty="0"/>
          </a:p>
        </p:txBody>
      </p:sp>
      <p:sp>
        <p:nvSpPr>
          <p:cNvPr id="6" name="Text 4"/>
          <p:cNvSpPr txBox="1"/>
          <p:nvPr/>
        </p:nvSpPr>
        <p:spPr>
          <a:xfrm>
            <a:off x="914400" y="3474720"/>
            <a:ext cx="297180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densidad</a:t>
            </a:r>
            <a:endParaRPr lang="en-US" sz="1300" dirty="0"/>
          </a:p>
        </p:txBody>
      </p:sp>
      <p:sp>
        <p:nvSpPr>
          <p:cNvPr id="7" name="Text 5"/>
          <p:cNvSpPr txBox="1"/>
          <p:nvPr/>
        </p:nvSpPr>
        <p:spPr>
          <a:xfrm>
            <a:off x="914400" y="3977640"/>
            <a:ext cx="2971800"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5,090</a:t>
            </a:r>
            <a:pPr indent="0" marL="0">
              <a:buNone/>
            </a:pPr>
            <a:r>
              <a:rPr lang="en-US" sz="1600" dirty="0">
                <a:solidFill>
                  <a:srgbClr val="6B6B6B"/>
                </a:solidFill>
                <a:latin typeface="Calibri" pitchFamily="34" charset="0"/>
                <a:ea typeface="Calibri" pitchFamily="34" charset="-122"/>
                <a:cs typeface="Calibri" pitchFamily="34" charset="-120"/>
              </a:rPr>
              <a:t>  clientes</a:t>
            </a:r>
            <a:endParaRPr lang="en-US" sz="1600" dirty="0"/>
          </a:p>
        </p:txBody>
      </p:sp>
      <p:sp>
        <p:nvSpPr>
          <p:cNvPr id="8" name="Text 6"/>
          <p:cNvSpPr txBox="1"/>
          <p:nvPr/>
        </p:nvSpPr>
        <p:spPr>
          <a:xfrm>
            <a:off x="914400" y="4434840"/>
            <a:ext cx="2971800"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7,189,307</a:t>
            </a:r>
            <a:pPr indent="0" marL="0">
              <a:buNone/>
            </a:pPr>
            <a:r>
              <a:rPr lang="en-US" sz="1600" dirty="0">
                <a:solidFill>
                  <a:srgbClr val="6B6B6B"/>
                </a:solidFill>
                <a:latin typeface="Calibri" pitchFamily="34" charset="0"/>
                <a:ea typeface="Calibri" pitchFamily="34" charset="-122"/>
                <a:cs typeface="Calibri" pitchFamily="34" charset="-120"/>
              </a:rPr>
              <a:t>  enlaces</a:t>
            </a:r>
            <a:endParaRPr lang="en-US" sz="1600" dirty="0"/>
          </a:p>
        </p:txBody>
      </p:sp>
      <p:sp>
        <p:nvSpPr>
          <p:cNvPr id="9" name="Shape 7"/>
          <p:cNvSpPr/>
          <p:nvPr/>
        </p:nvSpPr>
        <p:spPr>
          <a:xfrm>
            <a:off x="4480560" y="1874520"/>
            <a:ext cx="3520440" cy="3246120"/>
          </a:xfrm>
          <a:prstGeom prst="roundRect">
            <a:avLst>
              <a:gd name="adj" fmla="val 3380"/>
            </a:avLst>
          </a:prstGeom>
          <a:solidFill>
            <a:srgbClr val="F3F3F3"/>
          </a:solidFill>
          <a:ln w="12700">
            <a:solidFill>
              <a:srgbClr val="F3F3F3"/>
            </a:solidFill>
            <a:prstDash val="solid"/>
          </a:ln>
        </p:spPr>
      </p:sp>
      <p:sp>
        <p:nvSpPr>
          <p:cNvPr id="10" name="Text 8"/>
          <p:cNvSpPr txBox="1"/>
          <p:nvPr/>
        </p:nvSpPr>
        <p:spPr>
          <a:xfrm>
            <a:off x="4754880" y="2103120"/>
            <a:ext cx="2971800"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Sin SERV_1 ni SERV_2</a:t>
            </a:r>
            <a:endParaRPr lang="en-US" sz="1600" dirty="0"/>
          </a:p>
        </p:txBody>
      </p:sp>
      <p:sp>
        <p:nvSpPr>
          <p:cNvPr id="11" name="Text 9"/>
          <p:cNvSpPr txBox="1"/>
          <p:nvPr/>
        </p:nvSpPr>
        <p:spPr>
          <a:xfrm>
            <a:off x="4754880" y="2560320"/>
            <a:ext cx="2971800" cy="914400"/>
          </a:xfrm>
          <a:prstGeom prst="rect">
            <a:avLst/>
          </a:prstGeom>
          <a:noFill/>
          <a:ln/>
        </p:spPr>
        <p:txBody>
          <a:bodyPr wrap="square" lIns="0" tIns="0" rIns="0" bIns="0" rtlCol="0" anchor="ctr"/>
          <a:lstStyle/>
          <a:p>
            <a:pPr indent="0" marL="0">
              <a:buNone/>
            </a:pPr>
            <a:r>
              <a:rPr lang="en-US" sz="5400" b="1" dirty="0">
                <a:solidFill>
                  <a:srgbClr val="DA291C"/>
                </a:solidFill>
                <a:latin typeface="Arial" pitchFamily="34" charset="0"/>
                <a:ea typeface="Arial" pitchFamily="34" charset="-122"/>
                <a:cs typeface="Arial" pitchFamily="34" charset="-120"/>
              </a:rPr>
              <a:t>56.7%</a:t>
            </a:r>
            <a:endParaRPr lang="en-US" sz="5400" dirty="0"/>
          </a:p>
        </p:txBody>
      </p:sp>
      <p:sp>
        <p:nvSpPr>
          <p:cNvPr id="12" name="Text 10"/>
          <p:cNvSpPr txBox="1"/>
          <p:nvPr/>
        </p:nvSpPr>
        <p:spPr>
          <a:xfrm>
            <a:off x="4754880" y="3474720"/>
            <a:ext cx="2971800" cy="27432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densidad</a:t>
            </a:r>
            <a:endParaRPr lang="en-US" sz="1300" dirty="0"/>
          </a:p>
        </p:txBody>
      </p:sp>
      <p:sp>
        <p:nvSpPr>
          <p:cNvPr id="13" name="Text 11"/>
          <p:cNvSpPr txBox="1"/>
          <p:nvPr/>
        </p:nvSpPr>
        <p:spPr>
          <a:xfrm>
            <a:off x="4754880" y="3977640"/>
            <a:ext cx="2971800"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700</a:t>
            </a:r>
            <a:pPr indent="0" marL="0">
              <a:buNone/>
            </a:pPr>
            <a:r>
              <a:rPr lang="en-US" sz="1600" dirty="0">
                <a:solidFill>
                  <a:srgbClr val="6B6B6B"/>
                </a:solidFill>
                <a:latin typeface="Calibri" pitchFamily="34" charset="0"/>
                <a:ea typeface="Calibri" pitchFamily="34" charset="-122"/>
                <a:cs typeface="Calibri" pitchFamily="34" charset="-120"/>
              </a:rPr>
              <a:t>  clientes</a:t>
            </a:r>
            <a:endParaRPr lang="en-US" sz="1600" dirty="0"/>
          </a:p>
        </p:txBody>
      </p:sp>
      <p:sp>
        <p:nvSpPr>
          <p:cNvPr id="14" name="Text 12"/>
          <p:cNvSpPr txBox="1"/>
          <p:nvPr/>
        </p:nvSpPr>
        <p:spPr>
          <a:xfrm>
            <a:off x="4754880" y="4434840"/>
            <a:ext cx="2971800"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138,605</a:t>
            </a:r>
            <a:pPr indent="0" marL="0">
              <a:buNone/>
            </a:pPr>
            <a:r>
              <a:rPr lang="en-US" sz="1600" dirty="0">
                <a:solidFill>
                  <a:srgbClr val="6B6B6B"/>
                </a:solidFill>
                <a:latin typeface="Calibri" pitchFamily="34" charset="0"/>
                <a:ea typeface="Calibri" pitchFamily="34" charset="-122"/>
                <a:cs typeface="Calibri" pitchFamily="34" charset="-120"/>
              </a:rPr>
              <a:t>  enlaces</a:t>
            </a:r>
            <a:endParaRPr lang="en-US" sz="1600" dirty="0"/>
          </a:p>
        </p:txBody>
      </p:sp>
      <p:sp>
        <p:nvSpPr>
          <p:cNvPr id="15" name="Shape 13"/>
          <p:cNvSpPr/>
          <p:nvPr/>
        </p:nvSpPr>
        <p:spPr>
          <a:xfrm>
            <a:off x="8321040" y="1874520"/>
            <a:ext cx="3520440" cy="3246120"/>
          </a:xfrm>
          <a:prstGeom prst="roundRect">
            <a:avLst>
              <a:gd name="adj" fmla="val 3380"/>
            </a:avLst>
          </a:prstGeom>
          <a:solidFill>
            <a:srgbClr val="1A1A1A"/>
          </a:solidFill>
          <a:ln w="12700">
            <a:solidFill>
              <a:srgbClr val="1A1A1A"/>
            </a:solidFill>
            <a:prstDash val="solid"/>
          </a:ln>
        </p:spPr>
      </p:sp>
      <p:sp>
        <p:nvSpPr>
          <p:cNvPr id="16" name="Text 14"/>
          <p:cNvSpPr txBox="1"/>
          <p:nvPr/>
        </p:nvSpPr>
        <p:spPr>
          <a:xfrm>
            <a:off x="8595360" y="2103120"/>
            <a:ext cx="2971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Solo enlaces de 2+ servicios</a:t>
            </a:r>
            <a:endParaRPr lang="en-US" sz="1600" dirty="0"/>
          </a:p>
        </p:txBody>
      </p:sp>
      <p:sp>
        <p:nvSpPr>
          <p:cNvPr id="17" name="Text 15"/>
          <p:cNvSpPr txBox="1"/>
          <p:nvPr/>
        </p:nvSpPr>
        <p:spPr>
          <a:xfrm>
            <a:off x="8595360" y="2560320"/>
            <a:ext cx="2971800" cy="914400"/>
          </a:xfrm>
          <a:prstGeom prst="rect">
            <a:avLst/>
          </a:prstGeom>
          <a:noFill/>
          <a:ln/>
        </p:spPr>
        <p:txBody>
          <a:bodyPr wrap="square" lIns="0" tIns="0" rIns="0" bIns="0" rtlCol="0" anchor="ctr"/>
          <a:lstStyle/>
          <a:p>
            <a:pPr indent="0" marL="0">
              <a:buNone/>
            </a:pPr>
            <a:r>
              <a:rPr lang="en-US" sz="5400" b="1" dirty="0">
                <a:solidFill>
                  <a:srgbClr val="DA291C"/>
                </a:solidFill>
                <a:latin typeface="Arial" pitchFamily="34" charset="0"/>
                <a:ea typeface="Arial" pitchFamily="34" charset="-122"/>
                <a:cs typeface="Arial" pitchFamily="34" charset="-120"/>
              </a:rPr>
              <a:t>59.5%</a:t>
            </a:r>
            <a:endParaRPr lang="en-US" sz="5400" dirty="0"/>
          </a:p>
        </p:txBody>
      </p:sp>
      <p:sp>
        <p:nvSpPr>
          <p:cNvPr id="18" name="Text 16"/>
          <p:cNvSpPr txBox="1"/>
          <p:nvPr/>
        </p:nvSpPr>
        <p:spPr>
          <a:xfrm>
            <a:off x="8595360" y="3474720"/>
            <a:ext cx="2971800" cy="274320"/>
          </a:xfrm>
          <a:prstGeom prst="rect">
            <a:avLst/>
          </a:prstGeom>
          <a:noFill/>
          <a:ln/>
        </p:spPr>
        <p:txBody>
          <a:bodyPr wrap="square" lIns="0" tIns="0" rIns="0" bIns="0" rtlCol="0" anchor="ctr"/>
          <a:lstStyle/>
          <a:p>
            <a:pPr indent="0" marL="0">
              <a:buNone/>
            </a:pPr>
            <a:r>
              <a:rPr lang="en-US" sz="1300" dirty="0">
                <a:solidFill>
                  <a:srgbClr val="CFCFCF"/>
                </a:solidFill>
                <a:latin typeface="Calibri" pitchFamily="34" charset="0"/>
                <a:ea typeface="Calibri" pitchFamily="34" charset="-122"/>
                <a:cs typeface="Calibri" pitchFamily="34" charset="-120"/>
              </a:rPr>
              <a:t>densidad</a:t>
            </a:r>
            <a:endParaRPr lang="en-US" sz="1300" dirty="0"/>
          </a:p>
        </p:txBody>
      </p:sp>
      <p:sp>
        <p:nvSpPr>
          <p:cNvPr id="19" name="Text 17"/>
          <p:cNvSpPr txBox="1"/>
          <p:nvPr/>
        </p:nvSpPr>
        <p:spPr>
          <a:xfrm>
            <a:off x="8595360" y="3977640"/>
            <a:ext cx="2971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863</a:t>
            </a:r>
            <a:pPr indent="0" marL="0">
              <a:buNone/>
            </a:pPr>
            <a:r>
              <a:rPr lang="en-US" sz="1600" dirty="0">
                <a:solidFill>
                  <a:srgbClr val="CFCFCF"/>
                </a:solidFill>
                <a:latin typeface="Calibri" pitchFamily="34" charset="0"/>
                <a:ea typeface="Calibri" pitchFamily="34" charset="-122"/>
                <a:cs typeface="Calibri" pitchFamily="34" charset="-120"/>
              </a:rPr>
              <a:t>  clientes</a:t>
            </a:r>
            <a:endParaRPr lang="en-US" sz="1600" dirty="0"/>
          </a:p>
        </p:txBody>
      </p:sp>
      <p:sp>
        <p:nvSpPr>
          <p:cNvPr id="20" name="Text 18"/>
          <p:cNvSpPr txBox="1"/>
          <p:nvPr/>
        </p:nvSpPr>
        <p:spPr>
          <a:xfrm>
            <a:off x="8595360" y="4434840"/>
            <a:ext cx="29718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221,489</a:t>
            </a:r>
            <a:pPr indent="0" marL="0">
              <a:buNone/>
            </a:pPr>
            <a:r>
              <a:rPr lang="en-US" sz="1600" dirty="0">
                <a:solidFill>
                  <a:srgbClr val="CFCFCF"/>
                </a:solidFill>
                <a:latin typeface="Calibri" pitchFamily="34" charset="0"/>
                <a:ea typeface="Calibri" pitchFamily="34" charset="-122"/>
                <a:cs typeface="Calibri" pitchFamily="34" charset="-120"/>
              </a:rPr>
              <a:t>  enlaces</a:t>
            </a:r>
            <a:endParaRPr lang="en-US" sz="1600" dirty="0"/>
          </a:p>
        </p:txBody>
      </p:sp>
      <p:sp>
        <p:nvSpPr>
          <p:cNvPr id="21" name="Text 19"/>
          <p:cNvSpPr txBox="1"/>
          <p:nvPr/>
        </p:nvSpPr>
        <p:spPr>
          <a:xfrm>
            <a:off x="640080" y="5440680"/>
            <a:ext cx="10908792" cy="731520"/>
          </a:xfrm>
          <a:prstGeom prst="rect">
            <a:avLst/>
          </a:prstGeom>
          <a:noFill/>
          <a:ln/>
        </p:spPr>
        <p:txBody>
          <a:bodyPr wrap="square" lIns="0" tIns="0" rIns="0" bIns="0" rtlCol="0" anchor="t"/>
          <a:lstStyle/>
          <a:p>
            <a:pPr indent="0" marL="0">
              <a:buNone/>
            </a:pPr>
            <a:r>
              <a:rPr lang="en-US" sz="1800" dirty="0">
                <a:solidFill>
                  <a:srgbClr val="222222"/>
                </a:solidFill>
                <a:latin typeface="Calibri" pitchFamily="34" charset="0"/>
                <a:ea typeface="Calibri" pitchFamily="34" charset="-122"/>
                <a:cs typeface="Calibri" pitchFamily="34" charset="-120"/>
              </a:rPr>
              <a:t>La causa: solo hay 7 servicios y SERV_2 y SERV_1 los usa el 58% y el 47% de los clientes, así que casi todos quedan conectados con casi todos.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Decisión: conservar solo las relaciones de 2 o más servicios compartidos</a:t>
            </a:r>
            <a:endParaRPr lang="en-US" sz="3000" dirty="0"/>
          </a:p>
        </p:txBody>
      </p:sp>
      <p:sp>
        <p:nvSpPr>
          <p:cNvPr id="3" name="Text 1"/>
          <p:cNvSpPr txBox="1"/>
          <p:nvPr/>
        </p:nvSpPr>
        <p:spPr>
          <a:xfrm>
            <a:off x="640080" y="1783080"/>
            <a:ext cx="3840480" cy="1371600"/>
          </a:xfrm>
          <a:prstGeom prst="rect">
            <a:avLst/>
          </a:prstGeom>
          <a:noFill/>
          <a:ln/>
        </p:spPr>
        <p:txBody>
          <a:bodyPr wrap="square" lIns="0" tIns="0" rIns="0" bIns="0" rtlCol="0" anchor="ctr"/>
          <a:lstStyle/>
          <a:p>
            <a:pPr indent="0" marL="0">
              <a:buNone/>
            </a:pPr>
            <a:r>
              <a:rPr lang="en-US" sz="9600" b="1" dirty="0">
                <a:solidFill>
                  <a:srgbClr val="DA291C"/>
                </a:solidFill>
                <a:latin typeface="Arial" pitchFamily="34" charset="0"/>
                <a:ea typeface="Arial" pitchFamily="34" charset="-122"/>
                <a:cs typeface="Arial" pitchFamily="34" charset="-120"/>
              </a:rPr>
              <a:t>97%</a:t>
            </a:r>
            <a:endParaRPr lang="en-US" sz="9600" dirty="0"/>
          </a:p>
        </p:txBody>
      </p:sp>
      <p:sp>
        <p:nvSpPr>
          <p:cNvPr id="4" name="Text 2"/>
          <p:cNvSpPr txBox="1"/>
          <p:nvPr/>
        </p:nvSpPr>
        <p:spPr>
          <a:xfrm>
            <a:off x="640080" y="3200400"/>
            <a:ext cx="3840480" cy="1005840"/>
          </a:xfrm>
          <a:prstGeom prst="rect">
            <a:avLst/>
          </a:prstGeom>
          <a:noFill/>
          <a:ln/>
        </p:spPr>
        <p:txBody>
          <a:bodyPr wrap="square" lIns="0" tIns="0" rIns="0" bIns="0" rtlCol="0" anchor="t"/>
          <a:lstStyle/>
          <a:p>
            <a:pPr indent="0" marL="0">
              <a:buNone/>
            </a:pPr>
            <a:r>
              <a:rPr lang="en-US" sz="1700" dirty="0">
                <a:solidFill>
                  <a:srgbClr val="222222"/>
                </a:solidFill>
                <a:latin typeface="Calibri" pitchFamily="34" charset="0"/>
                <a:ea typeface="Calibri" pitchFamily="34" charset="-122"/>
                <a:cs typeface="Calibri" pitchFamily="34" charset="-120"/>
              </a:rPr>
              <a:t>de los enlaces eran de peso 1: dos clientes que coinciden en un solo servicio, una señal débil.</a:t>
            </a:r>
            <a:endParaRPr lang="en-US" sz="1700" dirty="0"/>
          </a:p>
        </p:txBody>
      </p:sp>
      <p:sp>
        <p:nvSpPr>
          <p:cNvPr id="5" name="Shape 3"/>
          <p:cNvSpPr/>
          <p:nvPr/>
        </p:nvSpPr>
        <p:spPr>
          <a:xfrm>
            <a:off x="640080" y="4526280"/>
            <a:ext cx="3721425" cy="457200"/>
          </a:xfrm>
          <a:prstGeom prst="rect">
            <a:avLst/>
          </a:prstGeom>
          <a:solidFill>
            <a:srgbClr val="BDBDBD"/>
          </a:solidFill>
          <a:ln w="12700">
            <a:solidFill>
              <a:srgbClr val="BDBDBD"/>
            </a:solidFill>
            <a:prstDash val="solid"/>
          </a:ln>
        </p:spPr>
      </p:sp>
      <p:sp>
        <p:nvSpPr>
          <p:cNvPr id="6" name="Shape 4"/>
          <p:cNvSpPr/>
          <p:nvPr/>
        </p:nvSpPr>
        <p:spPr>
          <a:xfrm>
            <a:off x="4361505" y="4526280"/>
            <a:ext cx="119055" cy="457200"/>
          </a:xfrm>
          <a:prstGeom prst="rect">
            <a:avLst/>
          </a:prstGeom>
          <a:solidFill>
            <a:srgbClr val="DA291C"/>
          </a:solidFill>
          <a:ln w="12700">
            <a:solidFill>
              <a:srgbClr val="DA291C"/>
            </a:solidFill>
            <a:prstDash val="solid"/>
          </a:ln>
        </p:spPr>
      </p:sp>
      <p:sp>
        <p:nvSpPr>
          <p:cNvPr id="7" name="Text 5"/>
          <p:cNvSpPr txBox="1"/>
          <p:nvPr/>
        </p:nvSpPr>
        <p:spPr>
          <a:xfrm>
            <a:off x="640080" y="5074920"/>
            <a:ext cx="219456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Peso 1: 6,967,818</a:t>
            </a:r>
            <a:endParaRPr lang="en-US" sz="1200" dirty="0"/>
          </a:p>
        </p:txBody>
      </p:sp>
      <p:sp>
        <p:nvSpPr>
          <p:cNvPr id="8" name="Text 6"/>
          <p:cNvSpPr txBox="1"/>
          <p:nvPr/>
        </p:nvSpPr>
        <p:spPr>
          <a:xfrm>
            <a:off x="2468880" y="5074920"/>
            <a:ext cx="2011680" cy="274320"/>
          </a:xfrm>
          <a:prstGeom prst="rect">
            <a:avLst/>
          </a:prstGeom>
          <a:noFill/>
          <a:ln/>
        </p:spPr>
        <p:txBody>
          <a:bodyPr wrap="square" lIns="0" tIns="0" rIns="0" bIns="0" rtlCol="0" anchor="ctr"/>
          <a:lstStyle/>
          <a:p>
            <a:pPr algn="r" indent="0" marL="0">
              <a:buNone/>
            </a:pPr>
            <a:r>
              <a:rPr lang="en-US" sz="1200" b="1" dirty="0">
                <a:solidFill>
                  <a:srgbClr val="DA291C"/>
                </a:solidFill>
                <a:latin typeface="Calibri" pitchFamily="34" charset="0"/>
                <a:ea typeface="Calibri" pitchFamily="34" charset="-122"/>
                <a:cs typeface="Calibri" pitchFamily="34" charset="-120"/>
              </a:rPr>
              <a:t>Peso 2+: 221,489</a:t>
            </a:r>
            <a:endParaRPr lang="en-US" sz="1200" dirty="0"/>
          </a:p>
        </p:txBody>
      </p:sp>
      <p:sp>
        <p:nvSpPr>
          <p:cNvPr id="9" name="Shape 7"/>
          <p:cNvSpPr/>
          <p:nvPr/>
        </p:nvSpPr>
        <p:spPr>
          <a:xfrm>
            <a:off x="5577840" y="1783080"/>
            <a:ext cx="2606040" cy="2011680"/>
          </a:xfrm>
          <a:prstGeom prst="roundRect">
            <a:avLst>
              <a:gd name="adj" fmla="val 5455"/>
            </a:avLst>
          </a:prstGeom>
          <a:solidFill>
            <a:srgbClr val="F3F3F3"/>
          </a:solidFill>
          <a:ln w="12700">
            <a:solidFill>
              <a:srgbClr val="F3F3F3"/>
            </a:solidFill>
            <a:prstDash val="solid"/>
          </a:ln>
        </p:spPr>
      </p:sp>
      <p:sp>
        <p:nvSpPr>
          <p:cNvPr id="10" name="Text 8"/>
          <p:cNvSpPr txBox="1"/>
          <p:nvPr/>
        </p:nvSpPr>
        <p:spPr>
          <a:xfrm>
            <a:off x="5806440" y="1965960"/>
            <a:ext cx="2194560" cy="822960"/>
          </a:xfrm>
          <a:prstGeom prst="rect">
            <a:avLst/>
          </a:prstGeom>
          <a:noFill/>
          <a:ln/>
        </p:spPr>
        <p:txBody>
          <a:bodyPr wrap="square" lIns="0" tIns="0" rIns="0" bIns="0" rtlCol="0" anchor="b"/>
          <a:lstStyle/>
          <a:p>
            <a:pPr indent="0" marL="0">
              <a:buNone/>
            </a:pPr>
            <a:r>
              <a:rPr lang="en-US" sz="4400" b="1" dirty="0">
                <a:solidFill>
                  <a:srgbClr val="222222"/>
                </a:solidFill>
                <a:latin typeface="Arial" pitchFamily="34" charset="0"/>
                <a:ea typeface="Arial" pitchFamily="34" charset="-122"/>
                <a:cs typeface="Arial" pitchFamily="34" charset="-120"/>
              </a:rPr>
              <a:t>5,090</a:t>
            </a:r>
            <a:endParaRPr lang="en-US" sz="4400" dirty="0"/>
          </a:p>
        </p:txBody>
      </p:sp>
      <p:sp>
        <p:nvSpPr>
          <p:cNvPr id="11" name="Text 9"/>
          <p:cNvSpPr txBox="1"/>
          <p:nvPr/>
        </p:nvSpPr>
        <p:spPr>
          <a:xfrm>
            <a:off x="5806440" y="2834640"/>
            <a:ext cx="2194560" cy="73152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clientes en la proyección completa</a:t>
            </a:r>
            <a:endParaRPr lang="en-US" sz="1400" dirty="0"/>
          </a:p>
        </p:txBody>
      </p:sp>
      <p:sp>
        <p:nvSpPr>
          <p:cNvPr id="12" name="Shape 10"/>
          <p:cNvSpPr/>
          <p:nvPr/>
        </p:nvSpPr>
        <p:spPr>
          <a:xfrm>
            <a:off x="8275320" y="2560320"/>
            <a:ext cx="457200" cy="411480"/>
          </a:xfrm>
          <a:prstGeom prst="rightArrow">
            <a:avLst/>
          </a:prstGeom>
          <a:solidFill>
            <a:srgbClr val="DA291C"/>
          </a:solidFill>
          <a:ln w="12700">
            <a:solidFill>
              <a:srgbClr val="DA291C"/>
            </a:solidFill>
            <a:prstDash val="solid"/>
          </a:ln>
        </p:spPr>
      </p:sp>
      <p:sp>
        <p:nvSpPr>
          <p:cNvPr id="13" name="Shape 11"/>
          <p:cNvSpPr/>
          <p:nvPr/>
        </p:nvSpPr>
        <p:spPr>
          <a:xfrm>
            <a:off x="8823960" y="1783080"/>
            <a:ext cx="2606040" cy="2011680"/>
          </a:xfrm>
          <a:prstGeom prst="roundRect">
            <a:avLst>
              <a:gd name="adj" fmla="val 5455"/>
            </a:avLst>
          </a:prstGeom>
          <a:solidFill>
            <a:srgbClr val="1A1A1A"/>
          </a:solidFill>
          <a:ln w="12700">
            <a:solidFill>
              <a:srgbClr val="1A1A1A"/>
            </a:solidFill>
            <a:prstDash val="solid"/>
          </a:ln>
        </p:spPr>
      </p:sp>
      <p:sp>
        <p:nvSpPr>
          <p:cNvPr id="14" name="Text 12"/>
          <p:cNvSpPr txBox="1"/>
          <p:nvPr/>
        </p:nvSpPr>
        <p:spPr>
          <a:xfrm>
            <a:off x="9052560" y="1965960"/>
            <a:ext cx="2194560" cy="822960"/>
          </a:xfrm>
          <a:prstGeom prst="rect">
            <a:avLst/>
          </a:prstGeom>
          <a:noFill/>
          <a:ln/>
        </p:spPr>
        <p:txBody>
          <a:bodyPr wrap="square" lIns="0" tIns="0" rIns="0" bIns="0" rtlCol="0" anchor="b"/>
          <a:lstStyle/>
          <a:p>
            <a:pPr indent="0" marL="0">
              <a:buNone/>
            </a:pPr>
            <a:r>
              <a:rPr lang="en-US" sz="4400" b="1" dirty="0">
                <a:solidFill>
                  <a:srgbClr val="DA291C"/>
                </a:solidFill>
                <a:latin typeface="Arial" pitchFamily="34" charset="0"/>
                <a:ea typeface="Arial" pitchFamily="34" charset="-122"/>
                <a:cs typeface="Arial" pitchFamily="34" charset="-120"/>
              </a:rPr>
              <a:t>863</a:t>
            </a:r>
            <a:endParaRPr lang="en-US" sz="4400" dirty="0"/>
          </a:p>
        </p:txBody>
      </p:sp>
      <p:sp>
        <p:nvSpPr>
          <p:cNvPr id="15" name="Text 13"/>
          <p:cNvSpPr txBox="1"/>
          <p:nvPr/>
        </p:nvSpPr>
        <p:spPr>
          <a:xfrm>
            <a:off x="9052560" y="2834640"/>
            <a:ext cx="2194560" cy="731520"/>
          </a:xfrm>
          <a:prstGeom prst="rect">
            <a:avLst/>
          </a:prstGeom>
          <a:noFill/>
          <a:ln/>
        </p:spPr>
        <p:txBody>
          <a:bodyPr wrap="square" lIns="0" tIns="0" rIns="0" bIns="0" rtlCol="0" anchor="t"/>
          <a:lstStyle/>
          <a:p>
            <a:pPr indent="0" marL="0">
              <a:buNone/>
            </a:pPr>
            <a:r>
              <a:rPr lang="en-US" sz="1400" dirty="0">
                <a:solidFill>
                  <a:srgbClr val="D9D9D9"/>
                </a:solidFill>
                <a:latin typeface="Calibri" pitchFamily="34" charset="0"/>
                <a:ea typeface="Calibri" pitchFamily="34" charset="-122"/>
                <a:cs typeface="Calibri" pitchFamily="34" charset="-120"/>
              </a:rPr>
              <a:t>clientes en la red final (221,489 enlaces)</a:t>
            </a:r>
            <a:endParaRPr lang="en-US" sz="1400" dirty="0"/>
          </a:p>
        </p:txBody>
      </p:sp>
      <p:pic>
        <p:nvPicPr>
          <p:cNvPr id="16" name="Image 0" descr="preencoded.png">    </p:cNvPr>
          <p:cNvPicPr>
            <a:picLocks noChangeAspect="1"/>
          </p:cNvPicPr>
          <p:nvPr/>
        </p:nvPicPr>
        <p:blipFill>
          <a:blip r:embed="rId1"/>
          <a:stretch>
            <a:fillRect/>
          </a:stretch>
        </p:blipFill>
        <p:spPr>
          <a:xfrm>
            <a:off x="5577840" y="4251960"/>
            <a:ext cx="365760" cy="365760"/>
          </a:xfrm>
          <a:prstGeom prst="rect">
            <a:avLst/>
          </a:prstGeom>
        </p:spPr>
      </p:pic>
      <p:sp>
        <p:nvSpPr>
          <p:cNvPr id="17" name="Text 14"/>
          <p:cNvSpPr txBox="1"/>
          <p:nvPr/>
        </p:nvSpPr>
        <p:spPr>
          <a:xfrm>
            <a:off x="6126480" y="4224528"/>
            <a:ext cx="5303520" cy="365760"/>
          </a:xfrm>
          <a:prstGeom prst="rect">
            <a:avLst/>
          </a:prstGeom>
          <a:noFill/>
          <a:ln/>
        </p:spPr>
        <p:txBody>
          <a:bodyPr wrap="square" lIns="0" tIns="0" rIns="0" bIns="0" rtlCol="0" anchor="ctr"/>
          <a:lstStyle/>
          <a:p>
            <a:pPr indent="0" marL="0">
              <a:buNone/>
            </a:pPr>
            <a:r>
              <a:rPr lang="en-US" sz="1800" b="1" dirty="0">
                <a:solidFill>
                  <a:srgbClr val="222222"/>
                </a:solidFill>
                <a:latin typeface="Calibri" pitchFamily="34" charset="0"/>
                <a:ea typeface="Calibri" pitchFamily="34" charset="-122"/>
                <a:cs typeface="Calibri" pitchFamily="34" charset="-120"/>
              </a:rPr>
              <a:t>El costo</a:t>
            </a:r>
            <a:endParaRPr lang="en-US" sz="1800" dirty="0"/>
          </a:p>
        </p:txBody>
      </p:sp>
      <p:sp>
        <p:nvSpPr>
          <p:cNvPr id="18" name="Text 15"/>
          <p:cNvSpPr txBox="1"/>
          <p:nvPr/>
        </p:nvSpPr>
        <p:spPr>
          <a:xfrm>
            <a:off x="6126480" y="4617720"/>
            <a:ext cx="5303520" cy="82296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4,227 clientes (83%) usan un solo servicio y quedan fuera de la red: no pueden compartir dos con nadie.</a:t>
            </a:r>
            <a:endParaRPr lang="en-US" sz="1600" dirty="0"/>
          </a:p>
        </p:txBody>
      </p:sp>
      <p:sp>
        <p:nvSpPr>
          <p:cNvPr id="19" name="Text 16"/>
          <p:cNvSpPr txBox="1"/>
          <p:nvPr/>
        </p:nvSpPr>
        <p:spPr>
          <a:xfrm>
            <a:off x="5577840" y="5486400"/>
            <a:ext cx="5852160" cy="640080"/>
          </a:xfrm>
          <a:prstGeom prst="rect">
            <a:avLst/>
          </a:prstGeom>
          <a:noFill/>
          <a:ln/>
        </p:spPr>
        <p:txBody>
          <a:bodyPr wrap="square" lIns="0" tIns="0" rIns="0" bIns="0" rtlCol="0" anchor="t"/>
          <a:lstStyle/>
          <a:p>
            <a:pPr indent="0" marL="0">
              <a:buNone/>
            </a:pPr>
            <a:r>
              <a:rPr lang="en-US" sz="1400" i="1" dirty="0">
                <a:solidFill>
                  <a:srgbClr val="6B6B6B"/>
                </a:solidFill>
                <a:latin typeface="Calibri" pitchFamily="34" charset="0"/>
                <a:ea typeface="Calibri" pitchFamily="34" charset="-122"/>
                <a:cs typeface="Calibri" pitchFamily="34" charset="-120"/>
              </a:rPr>
              <a:t>La densidad no baja (59.5%): el filtro quita ruido y vuelve calculable la red.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La red resultante es pequeña, compacta y muy agrupada: todos están a 3 pasos o menos</a:t>
            </a:r>
            <a:endParaRPr lang="en-US" sz="3000" dirty="0"/>
          </a:p>
        </p:txBody>
      </p:sp>
      <p:sp>
        <p:nvSpPr>
          <p:cNvPr id="3" name="Shape 1"/>
          <p:cNvSpPr/>
          <p:nvPr/>
        </p:nvSpPr>
        <p:spPr>
          <a:xfrm>
            <a:off x="640080" y="1920240"/>
            <a:ext cx="3520440" cy="1783080"/>
          </a:xfrm>
          <a:prstGeom prst="roundRect">
            <a:avLst>
              <a:gd name="adj" fmla="val 6154"/>
            </a:avLst>
          </a:prstGeom>
          <a:solidFill>
            <a:srgbClr val="F3F3F3"/>
          </a:solidFill>
          <a:ln w="12700">
            <a:solidFill>
              <a:srgbClr val="F3F3F3"/>
            </a:solidFill>
            <a:prstDash val="solid"/>
          </a:ln>
        </p:spPr>
      </p:sp>
      <p:sp>
        <p:nvSpPr>
          <p:cNvPr id="4" name="Text 2"/>
          <p:cNvSpPr txBox="1"/>
          <p:nvPr/>
        </p:nvSpPr>
        <p:spPr>
          <a:xfrm>
            <a:off x="914400" y="2103120"/>
            <a:ext cx="2971800" cy="914400"/>
          </a:xfrm>
          <a:prstGeom prst="rect">
            <a:avLst/>
          </a:prstGeom>
          <a:noFill/>
          <a:ln/>
        </p:spPr>
        <p:txBody>
          <a:bodyPr wrap="square" lIns="0" tIns="0" rIns="0" bIns="0" rtlCol="0" anchor="ctr"/>
          <a:lstStyle/>
          <a:p>
            <a:pPr indent="0" marL="0">
              <a:buNone/>
            </a:pPr>
            <a:r>
              <a:rPr lang="en-US" sz="4800" b="1" dirty="0">
                <a:solidFill>
                  <a:srgbClr val="DA291C"/>
                </a:solidFill>
                <a:latin typeface="Arial" pitchFamily="34" charset="0"/>
                <a:ea typeface="Arial" pitchFamily="34" charset="-122"/>
                <a:cs typeface="Arial" pitchFamily="34" charset="-120"/>
              </a:rPr>
              <a:t>863</a:t>
            </a:r>
            <a:endParaRPr lang="en-US" sz="4800" dirty="0"/>
          </a:p>
        </p:txBody>
      </p:sp>
      <p:sp>
        <p:nvSpPr>
          <p:cNvPr id="5" name="Text 3"/>
          <p:cNvSpPr txBox="1"/>
          <p:nvPr/>
        </p:nvSpPr>
        <p:spPr>
          <a:xfrm>
            <a:off x="914400" y="3063240"/>
            <a:ext cx="2971800" cy="3657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clientes (nodos)</a:t>
            </a:r>
            <a:endParaRPr lang="en-US" sz="1600" dirty="0"/>
          </a:p>
        </p:txBody>
      </p:sp>
      <p:sp>
        <p:nvSpPr>
          <p:cNvPr id="6" name="Shape 4"/>
          <p:cNvSpPr/>
          <p:nvPr/>
        </p:nvSpPr>
        <p:spPr>
          <a:xfrm>
            <a:off x="4480560" y="1920240"/>
            <a:ext cx="3520440" cy="1783080"/>
          </a:xfrm>
          <a:prstGeom prst="roundRect">
            <a:avLst>
              <a:gd name="adj" fmla="val 6154"/>
            </a:avLst>
          </a:prstGeom>
          <a:solidFill>
            <a:srgbClr val="F3F3F3"/>
          </a:solidFill>
          <a:ln w="12700">
            <a:solidFill>
              <a:srgbClr val="F3F3F3"/>
            </a:solidFill>
            <a:prstDash val="solid"/>
          </a:ln>
        </p:spPr>
      </p:sp>
      <p:sp>
        <p:nvSpPr>
          <p:cNvPr id="7" name="Text 5"/>
          <p:cNvSpPr txBox="1"/>
          <p:nvPr/>
        </p:nvSpPr>
        <p:spPr>
          <a:xfrm>
            <a:off x="4754880" y="2103120"/>
            <a:ext cx="2971800" cy="914400"/>
          </a:xfrm>
          <a:prstGeom prst="rect">
            <a:avLst/>
          </a:prstGeom>
          <a:noFill/>
          <a:ln/>
        </p:spPr>
        <p:txBody>
          <a:bodyPr wrap="square" lIns="0" tIns="0" rIns="0" bIns="0" rtlCol="0" anchor="ctr"/>
          <a:lstStyle/>
          <a:p>
            <a:pPr indent="0" marL="0">
              <a:buNone/>
            </a:pPr>
            <a:r>
              <a:rPr lang="en-US" sz="4800" b="1" dirty="0">
                <a:solidFill>
                  <a:srgbClr val="DA291C"/>
                </a:solidFill>
                <a:latin typeface="Arial" pitchFamily="34" charset="0"/>
                <a:ea typeface="Arial" pitchFamily="34" charset="-122"/>
                <a:cs typeface="Arial" pitchFamily="34" charset="-120"/>
              </a:rPr>
              <a:t>221,489</a:t>
            </a:r>
            <a:endParaRPr lang="en-US" sz="4800" dirty="0"/>
          </a:p>
        </p:txBody>
      </p:sp>
      <p:sp>
        <p:nvSpPr>
          <p:cNvPr id="8" name="Text 6"/>
          <p:cNvSpPr txBox="1"/>
          <p:nvPr/>
        </p:nvSpPr>
        <p:spPr>
          <a:xfrm>
            <a:off x="4754880" y="3063240"/>
            <a:ext cx="2971800" cy="3657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enlaces</a:t>
            </a:r>
            <a:endParaRPr lang="en-US" sz="1600" dirty="0"/>
          </a:p>
        </p:txBody>
      </p:sp>
      <p:sp>
        <p:nvSpPr>
          <p:cNvPr id="9" name="Shape 7"/>
          <p:cNvSpPr/>
          <p:nvPr/>
        </p:nvSpPr>
        <p:spPr>
          <a:xfrm>
            <a:off x="8321040" y="1920240"/>
            <a:ext cx="3520440" cy="1783080"/>
          </a:xfrm>
          <a:prstGeom prst="roundRect">
            <a:avLst>
              <a:gd name="adj" fmla="val 6154"/>
            </a:avLst>
          </a:prstGeom>
          <a:solidFill>
            <a:srgbClr val="F3F3F3"/>
          </a:solidFill>
          <a:ln w="12700">
            <a:solidFill>
              <a:srgbClr val="F3F3F3"/>
            </a:solidFill>
            <a:prstDash val="solid"/>
          </a:ln>
        </p:spPr>
      </p:sp>
      <p:sp>
        <p:nvSpPr>
          <p:cNvPr id="10" name="Text 8"/>
          <p:cNvSpPr txBox="1"/>
          <p:nvPr/>
        </p:nvSpPr>
        <p:spPr>
          <a:xfrm>
            <a:off x="8595360" y="2103120"/>
            <a:ext cx="2971800" cy="914400"/>
          </a:xfrm>
          <a:prstGeom prst="rect">
            <a:avLst/>
          </a:prstGeom>
          <a:noFill/>
          <a:ln/>
        </p:spPr>
        <p:txBody>
          <a:bodyPr wrap="square" lIns="0" tIns="0" rIns="0" bIns="0" rtlCol="0" anchor="ctr"/>
          <a:lstStyle/>
          <a:p>
            <a:pPr indent="0" marL="0">
              <a:buNone/>
            </a:pPr>
            <a:r>
              <a:rPr lang="en-US" sz="4800" b="1" dirty="0">
                <a:solidFill>
                  <a:srgbClr val="DA291C"/>
                </a:solidFill>
                <a:latin typeface="Arial" pitchFamily="34" charset="0"/>
                <a:ea typeface="Arial" pitchFamily="34" charset="-122"/>
                <a:cs typeface="Arial" pitchFamily="34" charset="-120"/>
              </a:rPr>
              <a:t>1</a:t>
            </a:r>
            <a:endParaRPr lang="en-US" sz="4800" dirty="0"/>
          </a:p>
        </p:txBody>
      </p:sp>
      <p:sp>
        <p:nvSpPr>
          <p:cNvPr id="11" name="Text 9"/>
          <p:cNvSpPr txBox="1"/>
          <p:nvPr/>
        </p:nvSpPr>
        <p:spPr>
          <a:xfrm>
            <a:off x="8595360" y="3063240"/>
            <a:ext cx="2971800" cy="3657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sola componente</a:t>
            </a:r>
            <a:endParaRPr lang="en-US" sz="1600" dirty="0"/>
          </a:p>
        </p:txBody>
      </p:sp>
      <p:sp>
        <p:nvSpPr>
          <p:cNvPr id="12" name="Shape 10"/>
          <p:cNvSpPr/>
          <p:nvPr/>
        </p:nvSpPr>
        <p:spPr>
          <a:xfrm>
            <a:off x="640080" y="3977640"/>
            <a:ext cx="3520440" cy="1783080"/>
          </a:xfrm>
          <a:prstGeom prst="roundRect">
            <a:avLst>
              <a:gd name="adj" fmla="val 6154"/>
            </a:avLst>
          </a:prstGeom>
          <a:solidFill>
            <a:srgbClr val="F3F3F3"/>
          </a:solidFill>
          <a:ln w="12700">
            <a:solidFill>
              <a:srgbClr val="F3F3F3"/>
            </a:solidFill>
            <a:prstDash val="solid"/>
          </a:ln>
        </p:spPr>
      </p:sp>
      <p:sp>
        <p:nvSpPr>
          <p:cNvPr id="13" name="Text 11"/>
          <p:cNvSpPr txBox="1"/>
          <p:nvPr/>
        </p:nvSpPr>
        <p:spPr>
          <a:xfrm>
            <a:off x="914400" y="4160520"/>
            <a:ext cx="2971800" cy="914400"/>
          </a:xfrm>
          <a:prstGeom prst="rect">
            <a:avLst/>
          </a:prstGeom>
          <a:noFill/>
          <a:ln/>
        </p:spPr>
        <p:txBody>
          <a:bodyPr wrap="square" lIns="0" tIns="0" rIns="0" bIns="0" rtlCol="0" anchor="ctr"/>
          <a:lstStyle/>
          <a:p>
            <a:pPr indent="0" marL="0">
              <a:buNone/>
            </a:pPr>
            <a:r>
              <a:rPr lang="en-US" sz="4800" b="1" dirty="0">
                <a:solidFill>
                  <a:srgbClr val="DA291C"/>
                </a:solidFill>
                <a:latin typeface="Arial" pitchFamily="34" charset="0"/>
                <a:ea typeface="Arial" pitchFamily="34" charset="-122"/>
                <a:cs typeface="Arial" pitchFamily="34" charset="-120"/>
              </a:rPr>
              <a:t>3</a:t>
            </a:r>
            <a:endParaRPr lang="en-US" sz="4800" dirty="0"/>
          </a:p>
        </p:txBody>
      </p:sp>
      <p:sp>
        <p:nvSpPr>
          <p:cNvPr id="14" name="Text 12"/>
          <p:cNvSpPr txBox="1"/>
          <p:nvPr/>
        </p:nvSpPr>
        <p:spPr>
          <a:xfrm>
            <a:off x="914400" y="5120640"/>
            <a:ext cx="2971800" cy="3657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diámetro de la red</a:t>
            </a:r>
            <a:endParaRPr lang="en-US" sz="1600" dirty="0"/>
          </a:p>
        </p:txBody>
      </p:sp>
      <p:sp>
        <p:nvSpPr>
          <p:cNvPr id="15" name="Shape 13"/>
          <p:cNvSpPr/>
          <p:nvPr/>
        </p:nvSpPr>
        <p:spPr>
          <a:xfrm>
            <a:off x="4480560" y="3977640"/>
            <a:ext cx="3520440" cy="1783080"/>
          </a:xfrm>
          <a:prstGeom prst="roundRect">
            <a:avLst>
              <a:gd name="adj" fmla="val 6154"/>
            </a:avLst>
          </a:prstGeom>
          <a:solidFill>
            <a:srgbClr val="F3F3F3"/>
          </a:solidFill>
          <a:ln w="12700">
            <a:solidFill>
              <a:srgbClr val="F3F3F3"/>
            </a:solidFill>
            <a:prstDash val="solid"/>
          </a:ln>
        </p:spPr>
      </p:sp>
      <p:sp>
        <p:nvSpPr>
          <p:cNvPr id="16" name="Text 14"/>
          <p:cNvSpPr txBox="1"/>
          <p:nvPr/>
        </p:nvSpPr>
        <p:spPr>
          <a:xfrm>
            <a:off x="4754880" y="4160520"/>
            <a:ext cx="2971800" cy="914400"/>
          </a:xfrm>
          <a:prstGeom prst="rect">
            <a:avLst/>
          </a:prstGeom>
          <a:noFill/>
          <a:ln/>
        </p:spPr>
        <p:txBody>
          <a:bodyPr wrap="square" lIns="0" tIns="0" rIns="0" bIns="0" rtlCol="0" anchor="ctr"/>
          <a:lstStyle/>
          <a:p>
            <a:pPr indent="0" marL="0">
              <a:buNone/>
            </a:pPr>
            <a:r>
              <a:rPr lang="en-US" sz="4800" b="1" dirty="0">
                <a:solidFill>
                  <a:srgbClr val="DA291C"/>
                </a:solidFill>
                <a:latin typeface="Arial" pitchFamily="34" charset="0"/>
                <a:ea typeface="Arial" pitchFamily="34" charset="-122"/>
                <a:cs typeface="Arial" pitchFamily="34" charset="-120"/>
              </a:rPr>
              <a:t>1.4</a:t>
            </a:r>
            <a:endParaRPr lang="en-US" sz="4800" dirty="0"/>
          </a:p>
        </p:txBody>
      </p:sp>
      <p:sp>
        <p:nvSpPr>
          <p:cNvPr id="17" name="Text 15"/>
          <p:cNvSpPr txBox="1"/>
          <p:nvPr/>
        </p:nvSpPr>
        <p:spPr>
          <a:xfrm>
            <a:off x="4754880" y="5120640"/>
            <a:ext cx="2971800" cy="3657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distancia promedio</a:t>
            </a:r>
            <a:endParaRPr lang="en-US" sz="1600" dirty="0"/>
          </a:p>
        </p:txBody>
      </p:sp>
      <p:sp>
        <p:nvSpPr>
          <p:cNvPr id="18" name="Shape 16"/>
          <p:cNvSpPr/>
          <p:nvPr/>
        </p:nvSpPr>
        <p:spPr>
          <a:xfrm>
            <a:off x="8321040" y="3977640"/>
            <a:ext cx="3520440" cy="1783080"/>
          </a:xfrm>
          <a:prstGeom prst="roundRect">
            <a:avLst>
              <a:gd name="adj" fmla="val 6154"/>
            </a:avLst>
          </a:prstGeom>
          <a:solidFill>
            <a:srgbClr val="F3F3F3"/>
          </a:solidFill>
          <a:ln w="12700">
            <a:solidFill>
              <a:srgbClr val="F3F3F3"/>
            </a:solidFill>
            <a:prstDash val="solid"/>
          </a:ln>
        </p:spPr>
      </p:sp>
      <p:sp>
        <p:nvSpPr>
          <p:cNvPr id="19" name="Text 17"/>
          <p:cNvSpPr txBox="1"/>
          <p:nvPr/>
        </p:nvSpPr>
        <p:spPr>
          <a:xfrm>
            <a:off x="8595360" y="4160520"/>
            <a:ext cx="2971800" cy="914400"/>
          </a:xfrm>
          <a:prstGeom prst="rect">
            <a:avLst/>
          </a:prstGeom>
          <a:noFill/>
          <a:ln/>
        </p:spPr>
        <p:txBody>
          <a:bodyPr wrap="square" lIns="0" tIns="0" rIns="0" bIns="0" rtlCol="0" anchor="ctr"/>
          <a:lstStyle/>
          <a:p>
            <a:pPr indent="0" marL="0">
              <a:buNone/>
            </a:pPr>
            <a:r>
              <a:rPr lang="en-US" sz="4800" b="1" dirty="0">
                <a:solidFill>
                  <a:srgbClr val="DA291C"/>
                </a:solidFill>
                <a:latin typeface="Arial" pitchFamily="34" charset="0"/>
                <a:ea typeface="Arial" pitchFamily="34" charset="-122"/>
                <a:cs typeface="Arial" pitchFamily="34" charset="-120"/>
              </a:rPr>
              <a:t>0.93</a:t>
            </a:r>
            <a:endParaRPr lang="en-US" sz="4800" dirty="0"/>
          </a:p>
        </p:txBody>
      </p:sp>
      <p:sp>
        <p:nvSpPr>
          <p:cNvPr id="20" name="Text 18"/>
          <p:cNvSpPr txBox="1"/>
          <p:nvPr/>
        </p:nvSpPr>
        <p:spPr>
          <a:xfrm>
            <a:off x="8595360" y="5120640"/>
            <a:ext cx="2971800" cy="36576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clustering promedio</a:t>
            </a:r>
            <a:endParaRPr lang="en-US" sz="1600" dirty="0"/>
          </a:p>
        </p:txBody>
      </p:sp>
      <p:sp>
        <p:nvSpPr>
          <p:cNvPr id="21" name="Text 19"/>
          <p:cNvSpPr txBox="1"/>
          <p:nvPr/>
        </p:nvSpPr>
        <p:spPr>
          <a:xfrm>
            <a:off x="640080" y="5897880"/>
            <a:ext cx="10908792" cy="457200"/>
          </a:xfrm>
          <a:prstGeom prst="rect">
            <a:avLst/>
          </a:prstGeom>
          <a:noFill/>
          <a:ln/>
        </p:spPr>
        <p:txBody>
          <a:bodyPr wrap="square" lIns="0" tIns="0" rIns="0" bIns="0" rtlCol="0" anchor="ctr"/>
          <a:lstStyle/>
          <a:p>
            <a:pPr indent="0" marL="0">
              <a:buNone/>
            </a:pPr>
            <a:r>
              <a:rPr lang="en-US" sz="1600" dirty="0">
                <a:solidFill>
                  <a:srgbClr val="6B6B6B"/>
                </a:solidFill>
                <a:latin typeface="Calibri" pitchFamily="34" charset="0"/>
                <a:ea typeface="Calibri" pitchFamily="34" charset="-122"/>
                <a:cs typeface="Calibri" pitchFamily="34" charset="-120"/>
              </a:rPr>
              <a:t>Cualquier cliente llega a cualquier otro en 1 o 2 pasos, y los vecinos de un cliente casi siempre están conectados entre sí.</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El grado no se reparte parejo: más de la mitad de los clientes tiene exactamente el mismo</a:t>
            </a:r>
            <a:endParaRPr lang="en-US" sz="3000" dirty="0"/>
          </a:p>
        </p:txBody>
      </p:sp>
      <p:graphicFrame>
        <p:nvGraphicFramePr>
          <p:cNvPr id="3" name="Chart 0" descr=""/>
          <p:cNvGraphicFramePr/>
          <p:nvPr/>
        </p:nvGraphicFramePr>
        <p:xfrm>
          <a:off x="548640" y="1783080"/>
          <a:ext cx="74066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0" y="2011680"/>
            <a:ext cx="3291840" cy="1097280"/>
          </a:xfrm>
          <a:prstGeom prst="rect">
            <a:avLst/>
          </a:prstGeom>
          <a:noFill/>
          <a:ln/>
        </p:spPr>
        <p:txBody>
          <a:bodyPr wrap="square" lIns="0" tIns="0" rIns="0" bIns="0" rtlCol="0" anchor="b"/>
          <a:lstStyle/>
          <a:p>
            <a:pPr indent="0" marL="0">
              <a:buNone/>
            </a:pPr>
            <a:r>
              <a:rPr lang="en-US" sz="6400" b="1" dirty="0">
                <a:solidFill>
                  <a:srgbClr val="DA291C"/>
                </a:solidFill>
                <a:latin typeface="Arial" pitchFamily="34" charset="0"/>
                <a:ea typeface="Arial" pitchFamily="34" charset="-122"/>
                <a:cs typeface="Arial" pitchFamily="34" charset="-120"/>
              </a:rPr>
              <a:t>52%</a:t>
            </a:r>
            <a:endParaRPr lang="en-US" sz="6400" dirty="0"/>
          </a:p>
        </p:txBody>
      </p:sp>
      <p:sp>
        <p:nvSpPr>
          <p:cNvPr id="5" name="Text 2"/>
          <p:cNvSpPr txBox="1"/>
          <p:nvPr/>
        </p:nvSpPr>
        <p:spPr>
          <a:xfrm>
            <a:off x="8229600" y="3136392"/>
            <a:ext cx="3291840" cy="731520"/>
          </a:xfrm>
          <a:prstGeom prst="rect">
            <a:avLst/>
          </a:prstGeom>
          <a:noFill/>
          <a:ln/>
        </p:spPr>
        <p:txBody>
          <a:bodyPr wrap="square" lIns="0" tIns="0" rIns="0" bIns="0" rtlCol="0" anchor="t"/>
          <a:lstStyle/>
          <a:p>
            <a:pPr indent="0" marL="0">
              <a:buNone/>
            </a:pPr>
            <a:r>
              <a:rPr lang="en-US" sz="1700" dirty="0">
                <a:solidFill>
                  <a:srgbClr val="222222"/>
                </a:solidFill>
                <a:latin typeface="Calibri" pitchFamily="34" charset="0"/>
                <a:ea typeface="Calibri" pitchFamily="34" charset="-122"/>
                <a:cs typeface="Calibri" pitchFamily="34" charset="-120"/>
              </a:rPr>
              <a:t>de los clientes (451 de 863) tiene grado 604</a:t>
            </a:r>
            <a:endParaRPr lang="en-US" sz="1700" dirty="0"/>
          </a:p>
        </p:txBody>
      </p:sp>
      <p:sp>
        <p:nvSpPr>
          <p:cNvPr id="6" name="Text 3"/>
          <p:cNvSpPr txBox="1"/>
          <p:nvPr/>
        </p:nvSpPr>
        <p:spPr>
          <a:xfrm>
            <a:off x="8229600" y="4069080"/>
            <a:ext cx="3291840" cy="1005840"/>
          </a:xfrm>
          <a:prstGeom prst="rect">
            <a:avLst/>
          </a:prstGeom>
          <a:noFill/>
          <a:ln/>
        </p:spPr>
        <p:txBody>
          <a:bodyPr wrap="square" lIns="0" tIns="0" rIns="0" bIns="0" rtlCol="0" anchor="t"/>
          <a:lstStyle/>
          <a:p>
            <a:pPr indent="0" marL="0">
              <a:buNone/>
            </a:pPr>
            <a:r>
              <a:rPr lang="en-US" sz="1500" dirty="0">
                <a:solidFill>
                  <a:srgbClr val="6B6B6B"/>
                </a:solidFill>
                <a:latin typeface="Calibri" pitchFamily="34" charset="0"/>
                <a:ea typeface="Calibri" pitchFamily="34" charset="-122"/>
                <a:cs typeface="Calibri" pitchFamily="34" charset="-120"/>
              </a:rPr>
              <a:t>Es la combinación SERV_1 + SERV_2. Mismo perfil de consumo, mismos vecinos, mismo grado.</a:t>
            </a:r>
            <a:endParaRPr lang="en-US" sz="1500" dirty="0"/>
          </a:p>
        </p:txBody>
      </p:sp>
      <p:sp>
        <p:nvSpPr>
          <p:cNvPr id="7" name="Text 4"/>
          <p:cNvSpPr txBox="1"/>
          <p:nvPr/>
        </p:nvSpPr>
        <p:spPr>
          <a:xfrm>
            <a:off x="8229600" y="5120640"/>
            <a:ext cx="3291840" cy="914400"/>
          </a:xfrm>
          <a:prstGeom prst="rect">
            <a:avLst/>
          </a:prstGeom>
          <a:noFill/>
          <a:ln/>
        </p:spPr>
        <p:txBody>
          <a:bodyPr wrap="square" lIns="0" tIns="0" rIns="0" bIns="0" rtlCol="0" anchor="t"/>
          <a:lstStyle/>
          <a:p>
            <a:pPr indent="0" marL="0">
              <a:buNone/>
            </a:pPr>
            <a:r>
              <a:rPr lang="en-US" sz="1500" b="1" dirty="0">
                <a:solidFill>
                  <a:srgbClr val="222222"/>
                </a:solidFill>
                <a:latin typeface="Calibri" pitchFamily="34" charset="0"/>
                <a:ea typeface="Calibri" pitchFamily="34" charset="-122"/>
                <a:cs typeface="Calibri" pitchFamily="34" charset="-120"/>
              </a:rPr>
              <a:t>No es una red con unos pocos hubs gigantes: es un bloque mayoritario muy conectado.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Una muestra de 40 clientes muestra la estructura: un núcleo compacto y una periferia con pocas conexiones</a:t>
            </a:r>
            <a:endParaRPr lang="en-US" sz="3000" dirty="0"/>
          </a:p>
        </p:txBody>
      </p:sp>
      <p:pic>
        <p:nvPicPr>
          <p:cNvPr id="3" name="Image 0" descr="/home/claude/docx_proj/deck/muestra40.png">    </p:cNvPr>
          <p:cNvPicPr>
            <a:picLocks noChangeAspect="1"/>
          </p:cNvPicPr>
          <p:nvPr/>
        </p:nvPicPr>
        <p:blipFill>
          <a:blip r:embed="rId1"/>
          <a:stretch>
            <a:fillRect/>
          </a:stretch>
        </p:blipFill>
        <p:spPr>
          <a:xfrm>
            <a:off x="1124357" y="1828800"/>
            <a:ext cx="5798005" cy="4343400"/>
          </a:xfrm>
          <a:prstGeom prst="rect">
            <a:avLst/>
          </a:prstGeom>
        </p:spPr>
      </p:pic>
      <p:sp>
        <p:nvSpPr>
          <p:cNvPr id="4" name="Text 1"/>
          <p:cNvSpPr txBox="1"/>
          <p:nvPr/>
        </p:nvSpPr>
        <p:spPr>
          <a:xfrm>
            <a:off x="8138160" y="1920240"/>
            <a:ext cx="3383280" cy="914400"/>
          </a:xfrm>
          <a:prstGeom prst="rect">
            <a:avLst/>
          </a:prstGeom>
          <a:noFill/>
          <a:ln/>
        </p:spPr>
        <p:txBody>
          <a:bodyPr wrap="square" lIns="0" tIns="0" rIns="0" bIns="0" rtlCol="0" anchor="b"/>
          <a:lstStyle/>
          <a:p>
            <a:pPr indent="0" marL="0">
              <a:buNone/>
            </a:pPr>
            <a:r>
              <a:rPr lang="en-US" sz="5400" b="1" dirty="0">
                <a:solidFill>
                  <a:srgbClr val="DA291C"/>
                </a:solidFill>
                <a:latin typeface="Arial" pitchFamily="34" charset="0"/>
                <a:ea typeface="Arial" pitchFamily="34" charset="-122"/>
                <a:cs typeface="Arial" pitchFamily="34" charset="-120"/>
              </a:rPr>
              <a:t>25</a:t>
            </a:r>
            <a:endParaRPr lang="en-US" sz="5400" dirty="0"/>
          </a:p>
        </p:txBody>
      </p:sp>
      <p:sp>
        <p:nvSpPr>
          <p:cNvPr id="5" name="Text 2"/>
          <p:cNvSpPr txBox="1"/>
          <p:nvPr/>
        </p:nvSpPr>
        <p:spPr>
          <a:xfrm>
            <a:off x="8138160" y="2862072"/>
            <a:ext cx="3383280" cy="45720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clientes forman un núcleo muy conectado</a:t>
            </a:r>
            <a:endParaRPr lang="en-US" sz="1600" dirty="0"/>
          </a:p>
        </p:txBody>
      </p:sp>
      <p:sp>
        <p:nvSpPr>
          <p:cNvPr id="6" name="Shape 3"/>
          <p:cNvSpPr/>
          <p:nvPr/>
        </p:nvSpPr>
        <p:spPr>
          <a:xfrm>
            <a:off x="8138160" y="3703320"/>
            <a:ext cx="256032" cy="256032"/>
          </a:xfrm>
          <a:prstGeom prst="ellipse">
            <a:avLst/>
          </a:prstGeom>
          <a:solidFill>
            <a:srgbClr val="DA291C"/>
          </a:solidFill>
          <a:ln w="12700">
            <a:solidFill>
              <a:srgbClr val="DA291C"/>
            </a:solidFill>
            <a:prstDash val="solid"/>
          </a:ln>
        </p:spPr>
      </p:sp>
      <p:sp>
        <p:nvSpPr>
          <p:cNvPr id="7" name="Text 4"/>
          <p:cNvSpPr txBox="1"/>
          <p:nvPr/>
        </p:nvSpPr>
        <p:spPr>
          <a:xfrm>
            <a:off x="8503920" y="3639312"/>
            <a:ext cx="3108960" cy="36576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19 usan SERV_1 + SERV_2</a:t>
            </a:r>
            <a:endParaRPr lang="en-US" sz="1500" dirty="0"/>
          </a:p>
        </p:txBody>
      </p:sp>
      <p:sp>
        <p:nvSpPr>
          <p:cNvPr id="8" name="Shape 5"/>
          <p:cNvSpPr/>
          <p:nvPr/>
        </p:nvSpPr>
        <p:spPr>
          <a:xfrm>
            <a:off x="8138160" y="4206240"/>
            <a:ext cx="256032" cy="256032"/>
          </a:xfrm>
          <a:prstGeom prst="ellipse">
            <a:avLst/>
          </a:prstGeom>
          <a:solidFill>
            <a:srgbClr val="3A3A3A"/>
          </a:solidFill>
          <a:ln w="12700">
            <a:solidFill>
              <a:srgbClr val="3A3A3A"/>
            </a:solidFill>
            <a:prstDash val="solid"/>
          </a:ln>
        </p:spPr>
      </p:sp>
      <p:sp>
        <p:nvSpPr>
          <p:cNvPr id="9" name="Text 6"/>
          <p:cNvSpPr txBox="1"/>
          <p:nvPr/>
        </p:nvSpPr>
        <p:spPr>
          <a:xfrm>
            <a:off x="8503920" y="4142232"/>
            <a:ext cx="3108960" cy="36576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otras combinaciones</a:t>
            </a:r>
            <a:endParaRPr lang="en-US" sz="1500" dirty="0"/>
          </a:p>
        </p:txBody>
      </p:sp>
      <p:sp>
        <p:nvSpPr>
          <p:cNvPr id="10" name="Text 7"/>
          <p:cNvSpPr txBox="1"/>
          <p:nvPr/>
        </p:nvSpPr>
        <p:spPr>
          <a:xfrm>
            <a:off x="8138160" y="4892040"/>
            <a:ext cx="3383280" cy="118872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Muestra ilustrativa: densidad 49.1% frente a 59.5% de la red. Los 2 clientes sueltos solo lo están en la muestra; en la red completa no hay aislados.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Para encontrar clientes clave hacemos cuatro preguntas distintas a la red</a:t>
            </a:r>
            <a:endParaRPr lang="en-US" sz="3000" dirty="0"/>
          </a:p>
        </p:txBody>
      </p:sp>
      <p:sp>
        <p:nvSpPr>
          <p:cNvPr id="3" name="Shape 1"/>
          <p:cNvSpPr/>
          <p:nvPr/>
        </p:nvSpPr>
        <p:spPr>
          <a:xfrm>
            <a:off x="640080" y="1965960"/>
            <a:ext cx="2532888" cy="3108960"/>
          </a:xfrm>
          <a:prstGeom prst="roundRect">
            <a:avLst>
              <a:gd name="adj" fmla="val 4332"/>
            </a:avLst>
          </a:prstGeom>
          <a:solidFill>
            <a:srgbClr val="F3F3F3"/>
          </a:solidFill>
          <a:ln w="12700">
            <a:solidFill>
              <a:srgbClr val="F3F3F3"/>
            </a:solidFill>
            <a:prstDash val="solid"/>
          </a:ln>
        </p:spPr>
      </p:sp>
      <p:sp>
        <p:nvSpPr>
          <p:cNvPr id="4" name="Shape 2"/>
          <p:cNvSpPr/>
          <p:nvPr/>
        </p:nvSpPr>
        <p:spPr>
          <a:xfrm>
            <a:off x="914400" y="2286000"/>
            <a:ext cx="731520" cy="731520"/>
          </a:xfrm>
          <a:prstGeom prst="ellipse">
            <a:avLst/>
          </a:prstGeom>
          <a:solidFill>
            <a:srgbClr val="DA291C"/>
          </a:solidFill>
          <a:ln w="12700">
            <a:solidFill>
              <a:srgbClr val="DA291C"/>
            </a:solidFill>
            <a:prstDash val="solid"/>
          </a:ln>
        </p:spPr>
      </p:sp>
      <p:pic>
        <p:nvPicPr>
          <p:cNvPr id="5" name="Image 0" descr="preencoded.png">    </p:cNvPr>
          <p:cNvPicPr>
            <a:picLocks noChangeAspect="1"/>
          </p:cNvPicPr>
          <p:nvPr/>
        </p:nvPicPr>
        <p:blipFill>
          <a:blip r:embed="rId1"/>
          <a:stretch>
            <a:fillRect/>
          </a:stretch>
        </p:blipFill>
        <p:spPr>
          <a:xfrm>
            <a:off x="1097280" y="2468880"/>
            <a:ext cx="365760" cy="365760"/>
          </a:xfrm>
          <a:prstGeom prst="rect">
            <a:avLst/>
          </a:prstGeom>
        </p:spPr>
      </p:pic>
      <p:sp>
        <p:nvSpPr>
          <p:cNvPr id="6" name="Text 3"/>
          <p:cNvSpPr txBox="1"/>
          <p:nvPr/>
        </p:nvSpPr>
        <p:spPr>
          <a:xfrm>
            <a:off x="914400" y="3246120"/>
            <a:ext cx="1984248" cy="457200"/>
          </a:xfrm>
          <a:prstGeom prst="rect">
            <a:avLst/>
          </a:prstGeom>
          <a:noFill/>
          <a:ln/>
        </p:spPr>
        <p:txBody>
          <a:bodyPr wrap="square" lIns="0" tIns="0" rIns="0" bIns="0" rtlCol="0" anchor="ctr"/>
          <a:lstStyle/>
          <a:p>
            <a:pPr indent="0" marL="0">
              <a:buNone/>
            </a:pPr>
            <a:r>
              <a:rPr lang="en-US" sz="2100" b="1" dirty="0">
                <a:solidFill>
                  <a:srgbClr val="222222"/>
                </a:solidFill>
                <a:latin typeface="Arial" pitchFamily="34" charset="0"/>
                <a:ea typeface="Arial" pitchFamily="34" charset="-122"/>
                <a:cs typeface="Arial" pitchFamily="34" charset="-120"/>
              </a:rPr>
              <a:t>Grado</a:t>
            </a:r>
            <a:endParaRPr lang="en-US" sz="2100" dirty="0"/>
          </a:p>
        </p:txBody>
      </p:sp>
      <p:sp>
        <p:nvSpPr>
          <p:cNvPr id="7" name="Text 4"/>
          <p:cNvSpPr txBox="1"/>
          <p:nvPr/>
        </p:nvSpPr>
        <p:spPr>
          <a:xfrm>
            <a:off x="914400" y="3794760"/>
            <a:ext cx="1984248" cy="1371600"/>
          </a:xfrm>
          <a:prstGeom prst="rect">
            <a:avLst/>
          </a:prstGeom>
          <a:noFill/>
          <a:ln/>
        </p:spPr>
        <p:txBody>
          <a:bodyPr wrap="square" lIns="0" tIns="0" rIns="0" bIns="0" rtlCol="0" anchor="t"/>
          <a:lstStyle/>
          <a:p>
            <a:pPr indent="0" marL="0">
              <a:buNone/>
            </a:pPr>
            <a:r>
              <a:rPr lang="en-US" sz="1600" dirty="0">
                <a:solidFill>
                  <a:srgbClr val="6B6B6B"/>
                </a:solidFill>
                <a:latin typeface="Calibri" pitchFamily="34" charset="0"/>
                <a:ea typeface="Calibri" pitchFamily="34" charset="-122"/>
                <a:cs typeface="Calibri" pitchFamily="34" charset="-120"/>
              </a:rPr>
              <a:t>¿Con cuántos clientes está conectado?</a:t>
            </a:r>
            <a:endParaRPr lang="en-US" sz="1600" dirty="0"/>
          </a:p>
        </p:txBody>
      </p:sp>
      <p:sp>
        <p:nvSpPr>
          <p:cNvPr id="8" name="Shape 5"/>
          <p:cNvSpPr/>
          <p:nvPr/>
        </p:nvSpPr>
        <p:spPr>
          <a:xfrm>
            <a:off x="3429000" y="1965960"/>
            <a:ext cx="2532888" cy="3108960"/>
          </a:xfrm>
          <a:prstGeom prst="roundRect">
            <a:avLst>
              <a:gd name="adj" fmla="val 4332"/>
            </a:avLst>
          </a:prstGeom>
          <a:solidFill>
            <a:srgbClr val="F3F3F3"/>
          </a:solidFill>
          <a:ln w="12700">
            <a:solidFill>
              <a:srgbClr val="F3F3F3"/>
            </a:solidFill>
            <a:prstDash val="solid"/>
          </a:ln>
        </p:spPr>
      </p:sp>
      <p:sp>
        <p:nvSpPr>
          <p:cNvPr id="9" name="Shape 6"/>
          <p:cNvSpPr/>
          <p:nvPr/>
        </p:nvSpPr>
        <p:spPr>
          <a:xfrm>
            <a:off x="3703320" y="2286000"/>
            <a:ext cx="731520" cy="731520"/>
          </a:xfrm>
          <a:prstGeom prst="ellipse">
            <a:avLst/>
          </a:prstGeom>
          <a:solidFill>
            <a:srgbClr val="DA291C"/>
          </a:solidFill>
          <a:ln w="12700">
            <a:solidFill>
              <a:srgbClr val="DA291C"/>
            </a:solidFill>
            <a:prstDash val="solid"/>
          </a:ln>
        </p:spPr>
      </p:sp>
      <p:pic>
        <p:nvPicPr>
          <p:cNvPr id="10" name="Image 1" descr="preencoded.png">    </p:cNvPr>
          <p:cNvPicPr>
            <a:picLocks noChangeAspect="1"/>
          </p:cNvPicPr>
          <p:nvPr/>
        </p:nvPicPr>
        <p:blipFill>
          <a:blip r:embed="rId2"/>
          <a:stretch>
            <a:fillRect/>
          </a:stretch>
        </p:blipFill>
        <p:spPr>
          <a:xfrm>
            <a:off x="3886200" y="2468880"/>
            <a:ext cx="365760" cy="365760"/>
          </a:xfrm>
          <a:prstGeom prst="rect">
            <a:avLst/>
          </a:prstGeom>
        </p:spPr>
      </p:pic>
      <p:sp>
        <p:nvSpPr>
          <p:cNvPr id="11" name="Text 7"/>
          <p:cNvSpPr txBox="1"/>
          <p:nvPr/>
        </p:nvSpPr>
        <p:spPr>
          <a:xfrm>
            <a:off x="3703320" y="3246120"/>
            <a:ext cx="1984248" cy="457200"/>
          </a:xfrm>
          <a:prstGeom prst="rect">
            <a:avLst/>
          </a:prstGeom>
          <a:noFill/>
          <a:ln/>
        </p:spPr>
        <p:txBody>
          <a:bodyPr wrap="square" lIns="0" tIns="0" rIns="0" bIns="0" rtlCol="0" anchor="ctr"/>
          <a:lstStyle/>
          <a:p>
            <a:pPr indent="0" marL="0">
              <a:buNone/>
            </a:pPr>
            <a:r>
              <a:rPr lang="en-US" sz="2100" b="1" dirty="0">
                <a:solidFill>
                  <a:srgbClr val="222222"/>
                </a:solidFill>
                <a:latin typeface="Arial" pitchFamily="34" charset="0"/>
                <a:ea typeface="Arial" pitchFamily="34" charset="-122"/>
                <a:cs typeface="Arial" pitchFamily="34" charset="-120"/>
              </a:rPr>
              <a:t>Cercanía</a:t>
            </a:r>
            <a:endParaRPr lang="en-US" sz="2100" dirty="0"/>
          </a:p>
        </p:txBody>
      </p:sp>
      <p:sp>
        <p:nvSpPr>
          <p:cNvPr id="12" name="Text 8"/>
          <p:cNvSpPr txBox="1"/>
          <p:nvPr/>
        </p:nvSpPr>
        <p:spPr>
          <a:xfrm>
            <a:off x="3703320" y="3794760"/>
            <a:ext cx="1984248" cy="1371600"/>
          </a:xfrm>
          <a:prstGeom prst="rect">
            <a:avLst/>
          </a:prstGeom>
          <a:noFill/>
          <a:ln/>
        </p:spPr>
        <p:txBody>
          <a:bodyPr wrap="square" lIns="0" tIns="0" rIns="0" bIns="0" rtlCol="0" anchor="t"/>
          <a:lstStyle/>
          <a:p>
            <a:pPr indent="0" marL="0">
              <a:buNone/>
            </a:pPr>
            <a:r>
              <a:rPr lang="en-US" sz="1600" dirty="0">
                <a:solidFill>
                  <a:srgbClr val="6B6B6B"/>
                </a:solidFill>
                <a:latin typeface="Calibri" pitchFamily="34" charset="0"/>
                <a:ea typeface="Calibri" pitchFamily="34" charset="-122"/>
                <a:cs typeface="Calibri" pitchFamily="34" charset="-120"/>
              </a:rPr>
              <a:t>¿Qué tan cerca está, en promedio, del resto de la red?</a:t>
            </a:r>
            <a:endParaRPr lang="en-US" sz="1600" dirty="0"/>
          </a:p>
        </p:txBody>
      </p:sp>
      <p:sp>
        <p:nvSpPr>
          <p:cNvPr id="13" name="Shape 9"/>
          <p:cNvSpPr/>
          <p:nvPr/>
        </p:nvSpPr>
        <p:spPr>
          <a:xfrm>
            <a:off x="6217920" y="1965960"/>
            <a:ext cx="2532888" cy="3108960"/>
          </a:xfrm>
          <a:prstGeom prst="roundRect">
            <a:avLst>
              <a:gd name="adj" fmla="val 4332"/>
            </a:avLst>
          </a:prstGeom>
          <a:solidFill>
            <a:srgbClr val="F3F3F3"/>
          </a:solidFill>
          <a:ln w="12700">
            <a:solidFill>
              <a:srgbClr val="F3F3F3"/>
            </a:solidFill>
            <a:prstDash val="solid"/>
          </a:ln>
        </p:spPr>
      </p:sp>
      <p:sp>
        <p:nvSpPr>
          <p:cNvPr id="14" name="Shape 10"/>
          <p:cNvSpPr/>
          <p:nvPr/>
        </p:nvSpPr>
        <p:spPr>
          <a:xfrm>
            <a:off x="6492240" y="2286000"/>
            <a:ext cx="731520" cy="731520"/>
          </a:xfrm>
          <a:prstGeom prst="ellipse">
            <a:avLst/>
          </a:prstGeom>
          <a:solidFill>
            <a:srgbClr val="DA291C"/>
          </a:solidFill>
          <a:ln w="12700">
            <a:solidFill>
              <a:srgbClr val="DA291C"/>
            </a:solidFill>
            <a:prstDash val="solid"/>
          </a:ln>
        </p:spPr>
      </p:sp>
      <p:pic>
        <p:nvPicPr>
          <p:cNvPr id="15" name="Image 2" descr="preencoded.png">    </p:cNvPr>
          <p:cNvPicPr>
            <a:picLocks noChangeAspect="1"/>
          </p:cNvPicPr>
          <p:nvPr/>
        </p:nvPicPr>
        <p:blipFill>
          <a:blip r:embed="rId3"/>
          <a:stretch>
            <a:fillRect/>
          </a:stretch>
        </p:blipFill>
        <p:spPr>
          <a:xfrm>
            <a:off x="6675120" y="2468880"/>
            <a:ext cx="365760" cy="365760"/>
          </a:xfrm>
          <a:prstGeom prst="rect">
            <a:avLst/>
          </a:prstGeom>
        </p:spPr>
      </p:pic>
      <p:sp>
        <p:nvSpPr>
          <p:cNvPr id="16" name="Text 11"/>
          <p:cNvSpPr txBox="1"/>
          <p:nvPr/>
        </p:nvSpPr>
        <p:spPr>
          <a:xfrm>
            <a:off x="6492240" y="3246120"/>
            <a:ext cx="1984248" cy="457200"/>
          </a:xfrm>
          <a:prstGeom prst="rect">
            <a:avLst/>
          </a:prstGeom>
          <a:noFill/>
          <a:ln/>
        </p:spPr>
        <p:txBody>
          <a:bodyPr wrap="square" lIns="0" tIns="0" rIns="0" bIns="0" rtlCol="0" anchor="ctr"/>
          <a:lstStyle/>
          <a:p>
            <a:pPr indent="0" marL="0">
              <a:buNone/>
            </a:pPr>
            <a:r>
              <a:rPr lang="en-US" sz="2100" b="1" dirty="0">
                <a:solidFill>
                  <a:srgbClr val="222222"/>
                </a:solidFill>
                <a:latin typeface="Arial" pitchFamily="34" charset="0"/>
                <a:ea typeface="Arial" pitchFamily="34" charset="-122"/>
                <a:cs typeface="Arial" pitchFamily="34" charset="-120"/>
              </a:rPr>
              <a:t>Autovector</a:t>
            </a:r>
            <a:endParaRPr lang="en-US" sz="2100" dirty="0"/>
          </a:p>
        </p:txBody>
      </p:sp>
      <p:sp>
        <p:nvSpPr>
          <p:cNvPr id="17" name="Text 12"/>
          <p:cNvSpPr txBox="1"/>
          <p:nvPr/>
        </p:nvSpPr>
        <p:spPr>
          <a:xfrm>
            <a:off x="6492240" y="3794760"/>
            <a:ext cx="1984248" cy="1371600"/>
          </a:xfrm>
          <a:prstGeom prst="rect">
            <a:avLst/>
          </a:prstGeom>
          <a:noFill/>
          <a:ln/>
        </p:spPr>
        <p:txBody>
          <a:bodyPr wrap="square" lIns="0" tIns="0" rIns="0" bIns="0" rtlCol="0" anchor="t"/>
          <a:lstStyle/>
          <a:p>
            <a:pPr indent="0" marL="0">
              <a:buNone/>
            </a:pPr>
            <a:r>
              <a:rPr lang="en-US" sz="1600" dirty="0">
                <a:solidFill>
                  <a:srgbClr val="6B6B6B"/>
                </a:solidFill>
                <a:latin typeface="Calibri" pitchFamily="34" charset="0"/>
                <a:ea typeface="Calibri" pitchFamily="34" charset="-122"/>
                <a:cs typeface="Calibri" pitchFamily="34" charset="-120"/>
              </a:rPr>
              <a:t>¿Está conectado con clientes que a su vez son importantes?</a:t>
            </a:r>
            <a:endParaRPr lang="en-US" sz="1600" dirty="0"/>
          </a:p>
        </p:txBody>
      </p:sp>
      <p:sp>
        <p:nvSpPr>
          <p:cNvPr id="18" name="Shape 13"/>
          <p:cNvSpPr/>
          <p:nvPr/>
        </p:nvSpPr>
        <p:spPr>
          <a:xfrm>
            <a:off x="9006840" y="1965960"/>
            <a:ext cx="2532888" cy="3108960"/>
          </a:xfrm>
          <a:prstGeom prst="roundRect">
            <a:avLst>
              <a:gd name="adj" fmla="val 4332"/>
            </a:avLst>
          </a:prstGeom>
          <a:solidFill>
            <a:srgbClr val="1A1A1A"/>
          </a:solidFill>
          <a:ln w="12700">
            <a:solidFill>
              <a:srgbClr val="1A1A1A"/>
            </a:solidFill>
            <a:prstDash val="solid"/>
          </a:ln>
        </p:spPr>
      </p:sp>
      <p:sp>
        <p:nvSpPr>
          <p:cNvPr id="19" name="Shape 14"/>
          <p:cNvSpPr/>
          <p:nvPr/>
        </p:nvSpPr>
        <p:spPr>
          <a:xfrm>
            <a:off x="9281160" y="2286000"/>
            <a:ext cx="731520" cy="731520"/>
          </a:xfrm>
          <a:prstGeom prst="ellipse">
            <a:avLst/>
          </a:prstGeom>
          <a:solidFill>
            <a:srgbClr val="DA291C"/>
          </a:solidFill>
          <a:ln w="12700">
            <a:solidFill>
              <a:srgbClr val="DA291C"/>
            </a:solidFill>
            <a:prstDash val="solid"/>
          </a:ln>
        </p:spPr>
      </p:sp>
      <p:pic>
        <p:nvPicPr>
          <p:cNvPr id="20" name="Image 3" descr="preencoded.png">    </p:cNvPr>
          <p:cNvPicPr>
            <a:picLocks noChangeAspect="1"/>
          </p:cNvPicPr>
          <p:nvPr/>
        </p:nvPicPr>
        <p:blipFill>
          <a:blip r:embed="rId4"/>
          <a:stretch>
            <a:fillRect/>
          </a:stretch>
        </p:blipFill>
        <p:spPr>
          <a:xfrm>
            <a:off x="9464040" y="2468880"/>
            <a:ext cx="365760" cy="365760"/>
          </a:xfrm>
          <a:prstGeom prst="rect">
            <a:avLst/>
          </a:prstGeom>
        </p:spPr>
      </p:pic>
      <p:sp>
        <p:nvSpPr>
          <p:cNvPr id="21" name="Text 15"/>
          <p:cNvSpPr txBox="1"/>
          <p:nvPr/>
        </p:nvSpPr>
        <p:spPr>
          <a:xfrm>
            <a:off x="9281160" y="3246120"/>
            <a:ext cx="1984248"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Intermediación</a:t>
            </a:r>
            <a:endParaRPr lang="en-US" sz="2100" dirty="0"/>
          </a:p>
        </p:txBody>
      </p:sp>
      <p:sp>
        <p:nvSpPr>
          <p:cNvPr id="22" name="Text 16"/>
          <p:cNvSpPr txBox="1"/>
          <p:nvPr/>
        </p:nvSpPr>
        <p:spPr>
          <a:xfrm>
            <a:off x="9281160" y="3794760"/>
            <a:ext cx="1984248" cy="1371600"/>
          </a:xfrm>
          <a:prstGeom prst="rect">
            <a:avLst/>
          </a:prstGeom>
          <a:noFill/>
          <a:ln/>
        </p:spPr>
        <p:txBody>
          <a:bodyPr wrap="square" lIns="0" tIns="0" rIns="0" bIns="0" rtlCol="0" anchor="t"/>
          <a:lstStyle/>
          <a:p>
            <a:pPr indent="0" marL="0">
              <a:buNone/>
            </a:pPr>
            <a:r>
              <a:rPr lang="en-US" sz="1600" dirty="0">
                <a:solidFill>
                  <a:srgbClr val="D9D9D9"/>
                </a:solidFill>
                <a:latin typeface="Calibri" pitchFamily="34" charset="0"/>
                <a:ea typeface="Calibri" pitchFamily="34" charset="-122"/>
                <a:cs typeface="Calibri" pitchFamily="34" charset="-120"/>
              </a:rPr>
              <a:t>¿Funciona como puente entre otros clientes?</a:t>
            </a:r>
            <a:endParaRPr lang="en-US" sz="1600" dirty="0"/>
          </a:p>
        </p:txBody>
      </p:sp>
      <p:sp>
        <p:nvSpPr>
          <p:cNvPr id="23" name="Text 17"/>
          <p:cNvSpPr txBox="1"/>
          <p:nvPr/>
        </p:nvSpPr>
        <p:spPr>
          <a:xfrm>
            <a:off x="640080" y="5394960"/>
            <a:ext cx="10908792" cy="457200"/>
          </a:xfrm>
          <a:prstGeom prst="rect">
            <a:avLst/>
          </a:prstGeom>
          <a:noFill/>
          <a:ln/>
        </p:spPr>
        <p:txBody>
          <a:bodyPr wrap="square" lIns="0" tIns="0" rIns="0" bIns="0" rtlCol="0" anchor="ctr"/>
          <a:lstStyle/>
          <a:p>
            <a:pPr indent="0" marL="0">
              <a:buNone/>
            </a:pPr>
            <a:r>
              <a:rPr lang="en-US" sz="1500" dirty="0">
                <a:solidFill>
                  <a:srgbClr val="6B6B6B"/>
                </a:solidFill>
                <a:latin typeface="Calibri" pitchFamily="34" charset="0"/>
                <a:ea typeface="Calibri" pitchFamily="34" charset="-122"/>
                <a:cs typeface="Calibri" pitchFamily="34" charset="-120"/>
              </a:rPr>
              <a:t>Se suma la fuerza: el grado contando cuántos servicios se comparten con cada vecino.</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ID_3124 es el cliente más conectado: llega al 98.8% de la red porque usa 6 de los 7 servicios</a:t>
            </a:r>
            <a:endParaRPr lang="en-US" sz="3000" dirty="0"/>
          </a:p>
        </p:txBody>
      </p:sp>
      <p:graphicFrame>
        <p:nvGraphicFramePr>
          <p:cNvPr id="3" name="Chart 0" descr=""/>
          <p:cNvGraphicFramePr/>
          <p:nvPr/>
        </p:nvGraphicFramePr>
        <p:xfrm>
          <a:off x="548640" y="17830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40080" y="6263640"/>
            <a:ext cx="6400800" cy="27432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Eje desde 0.90 para distinguir los valores.</a:t>
            </a:r>
            <a:endParaRPr lang="en-US" sz="1100" dirty="0"/>
          </a:p>
        </p:txBody>
      </p:sp>
      <p:sp>
        <p:nvSpPr>
          <p:cNvPr id="5" name="Shape 2"/>
          <p:cNvSpPr/>
          <p:nvPr/>
        </p:nvSpPr>
        <p:spPr>
          <a:xfrm>
            <a:off x="7955280" y="1920240"/>
            <a:ext cx="3611880" cy="3931920"/>
          </a:xfrm>
          <a:prstGeom prst="roundRect">
            <a:avLst>
              <a:gd name="adj" fmla="val 3038"/>
            </a:avLst>
          </a:prstGeom>
          <a:solidFill>
            <a:srgbClr val="F3F3F3"/>
          </a:solidFill>
          <a:ln w="12700">
            <a:solidFill>
              <a:srgbClr val="F3F3F3"/>
            </a:solidFill>
            <a:prstDash val="solid"/>
          </a:ln>
        </p:spPr>
      </p:sp>
      <p:sp>
        <p:nvSpPr>
          <p:cNvPr id="6" name="Text 3"/>
          <p:cNvSpPr txBox="1"/>
          <p:nvPr/>
        </p:nvSpPr>
        <p:spPr>
          <a:xfrm>
            <a:off x="8229600" y="2103120"/>
            <a:ext cx="3108960" cy="1005840"/>
          </a:xfrm>
          <a:prstGeom prst="rect">
            <a:avLst/>
          </a:prstGeom>
          <a:noFill/>
          <a:ln/>
        </p:spPr>
        <p:txBody>
          <a:bodyPr wrap="square" lIns="0" tIns="0" rIns="0" bIns="0" rtlCol="0" anchor="b"/>
          <a:lstStyle/>
          <a:p>
            <a:pPr indent="0" marL="0">
              <a:buNone/>
            </a:pPr>
            <a:r>
              <a:rPr lang="en-US" sz="6000" b="1" dirty="0">
                <a:solidFill>
                  <a:srgbClr val="DA291C"/>
                </a:solidFill>
                <a:latin typeface="Arial" pitchFamily="34" charset="0"/>
                <a:ea typeface="Arial" pitchFamily="34" charset="-122"/>
                <a:cs typeface="Arial" pitchFamily="34" charset="-120"/>
              </a:rPr>
              <a:t>15</a:t>
            </a:r>
            <a:endParaRPr lang="en-US" sz="6000" dirty="0"/>
          </a:p>
        </p:txBody>
      </p:sp>
      <p:sp>
        <p:nvSpPr>
          <p:cNvPr id="7" name="Text 4"/>
          <p:cNvSpPr txBox="1"/>
          <p:nvPr/>
        </p:nvSpPr>
        <p:spPr>
          <a:xfrm>
            <a:off x="8229600" y="3136392"/>
            <a:ext cx="3108960" cy="640080"/>
          </a:xfrm>
          <a:prstGeom prst="rect">
            <a:avLst/>
          </a:prstGeom>
          <a:noFill/>
          <a:ln/>
        </p:spPr>
        <p:txBody>
          <a:bodyPr wrap="square" lIns="0" tIns="0" rIns="0" bIns="0" rtlCol="0" anchor="t"/>
          <a:lstStyle/>
          <a:p>
            <a:pPr indent="0" marL="0">
              <a:buNone/>
            </a:pPr>
            <a:r>
              <a:rPr lang="en-US" sz="1600" dirty="0">
                <a:solidFill>
                  <a:srgbClr val="222222"/>
                </a:solidFill>
                <a:latin typeface="Calibri" pitchFamily="34" charset="0"/>
                <a:ea typeface="Calibri" pitchFamily="34" charset="-122"/>
                <a:cs typeface="Calibri" pitchFamily="34" charset="-120"/>
              </a:rPr>
              <a:t>clientes con grado superior a 0.97: los hubs</a:t>
            </a:r>
            <a:endParaRPr lang="en-US" sz="1600" dirty="0"/>
          </a:p>
        </p:txBody>
      </p:sp>
      <p:sp>
        <p:nvSpPr>
          <p:cNvPr id="8" name="Text 5"/>
          <p:cNvSpPr txBox="1"/>
          <p:nvPr/>
        </p:nvSpPr>
        <p:spPr>
          <a:xfrm>
            <a:off x="8229600" y="3977640"/>
            <a:ext cx="3108960" cy="173736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Todos incluyen SERV_1 y SERV_2 más al menos 3 servicios adicionales. Consumen casi todo el portafolio y por eso coinciden con casi todos.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Grado, fuerza, cercanía y autovector ordenan a los clientes igual: son redundantes</a:t>
            </a:r>
            <a:endParaRPr lang="en-US" sz="3000" dirty="0"/>
          </a:p>
        </p:txBody>
      </p:sp>
      <p:graphicFrame>
        <p:nvGraphicFramePr>
          <p:cNvPr id="3" name="Chart 0" descr=""/>
          <p:cNvGraphicFramePr/>
          <p:nvPr/>
        </p:nvGraphicFramePr>
        <p:xfrm>
          <a:off x="548640" y="178308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138160" y="1920240"/>
            <a:ext cx="3383280" cy="1188720"/>
          </a:xfrm>
          <a:prstGeom prst="rect">
            <a:avLst/>
          </a:prstGeom>
          <a:noFill/>
          <a:ln/>
        </p:spPr>
        <p:txBody>
          <a:bodyPr wrap="square" lIns="0" tIns="0" rIns="0" bIns="0" rtlCol="0" anchor="b"/>
          <a:lstStyle/>
          <a:p>
            <a:pPr indent="0" marL="0">
              <a:buNone/>
            </a:pPr>
            <a:r>
              <a:rPr lang="en-US" sz="7200" b="1" dirty="0">
                <a:solidFill>
                  <a:srgbClr val="DA291C"/>
                </a:solidFill>
                <a:latin typeface="Arial" pitchFamily="34" charset="0"/>
                <a:ea typeface="Arial" pitchFamily="34" charset="-122"/>
                <a:cs typeface="Arial" pitchFamily="34" charset="-120"/>
              </a:rPr>
              <a:t>1.00</a:t>
            </a:r>
            <a:endParaRPr lang="en-US" sz="7200" dirty="0"/>
          </a:p>
        </p:txBody>
      </p:sp>
      <p:sp>
        <p:nvSpPr>
          <p:cNvPr id="5" name="Text 2"/>
          <p:cNvSpPr txBox="1"/>
          <p:nvPr/>
        </p:nvSpPr>
        <p:spPr>
          <a:xfrm>
            <a:off x="8138160" y="3136392"/>
            <a:ext cx="3383280" cy="731520"/>
          </a:xfrm>
          <a:prstGeom prst="rect">
            <a:avLst/>
          </a:prstGeom>
          <a:noFill/>
          <a:ln/>
        </p:spPr>
        <p:txBody>
          <a:bodyPr wrap="square" lIns="0" tIns="0" rIns="0" bIns="0" rtlCol="0" anchor="t"/>
          <a:lstStyle/>
          <a:p>
            <a:pPr indent="0" marL="0">
              <a:buNone/>
            </a:pPr>
            <a:r>
              <a:rPr lang="en-US" sz="1700" dirty="0">
                <a:solidFill>
                  <a:srgbClr val="222222"/>
                </a:solidFill>
                <a:latin typeface="Calibri" pitchFamily="34" charset="0"/>
                <a:ea typeface="Calibri" pitchFamily="34" charset="-122"/>
                <a:cs typeface="Calibri" pitchFamily="34" charset="-120"/>
              </a:rPr>
              <a:t>correlación de Spearman entre las cuatro métricas</a:t>
            </a:r>
            <a:endParaRPr lang="en-US" sz="1700" dirty="0"/>
          </a:p>
        </p:txBody>
      </p:sp>
      <p:sp>
        <p:nvSpPr>
          <p:cNvPr id="6" name="Text 3"/>
          <p:cNvSpPr txBox="1"/>
          <p:nvPr/>
        </p:nvSpPr>
        <p:spPr>
          <a:xfrm>
            <a:off x="8138160" y="4069080"/>
            <a:ext cx="3383280" cy="146304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Cada punto es un perfil de servicios (47 en total). Caen sobre una misma línea: en una red tan densa, con diámetro 3, estar conectado con muchos es estar cerca de todos.</a:t>
            </a:r>
            <a:endParaRPr lang="en-US" sz="1400" dirty="0"/>
          </a:p>
        </p:txBody>
      </p:sp>
      <p:pic>
        <p:nvPicPr>
          <p:cNvPr id="7" name="Image 0" descr="preencoded.png">    </p:cNvPr>
          <p:cNvPicPr>
            <a:picLocks noChangeAspect="1"/>
          </p:cNvPicPr>
          <p:nvPr/>
        </p:nvPicPr>
        <p:blipFill>
          <a:blip r:embed="rId2"/>
          <a:stretch>
            <a:fillRect/>
          </a:stretch>
        </p:blipFill>
        <p:spPr>
          <a:xfrm>
            <a:off x="8138160" y="5669280"/>
            <a:ext cx="274320" cy="274320"/>
          </a:xfrm>
          <a:prstGeom prst="rect">
            <a:avLst/>
          </a:prstGeom>
        </p:spPr>
      </p:pic>
      <p:sp>
        <p:nvSpPr>
          <p:cNvPr id="8" name="Text 4"/>
          <p:cNvSpPr txBox="1"/>
          <p:nvPr/>
        </p:nvSpPr>
        <p:spPr>
          <a:xfrm>
            <a:off x="8503920" y="5623560"/>
            <a:ext cx="3108960" cy="41148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Basta reportar una. Falta saber quién es puente.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La intermediación cambia el panorama: el 73% de los clientes nunca es puente</a:t>
            </a:r>
            <a:endParaRPr lang="en-US" sz="3000" dirty="0"/>
          </a:p>
        </p:txBody>
      </p:sp>
      <p:graphicFrame>
        <p:nvGraphicFramePr>
          <p:cNvPr id="3" name="Chart 0" descr=""/>
          <p:cNvGraphicFramePr/>
          <p:nvPr/>
        </p:nvGraphicFramePr>
        <p:xfrm>
          <a:off x="457200" y="1783080"/>
          <a:ext cx="475488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1691640" y="3063240"/>
            <a:ext cx="2286000" cy="73152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633</a:t>
            </a:r>
            <a:endParaRPr lang="en-US" sz="4400" dirty="0"/>
          </a:p>
        </p:txBody>
      </p:sp>
      <p:sp>
        <p:nvSpPr>
          <p:cNvPr id="5" name="Text 2"/>
          <p:cNvSpPr txBox="1"/>
          <p:nvPr/>
        </p:nvSpPr>
        <p:spPr>
          <a:xfrm>
            <a:off x="2011680" y="3794760"/>
            <a:ext cx="1645920" cy="502920"/>
          </a:xfrm>
          <a:prstGeom prst="rect">
            <a:avLst/>
          </a:prstGeom>
          <a:noFill/>
          <a:ln/>
        </p:spPr>
        <p:txBody>
          <a:bodyPr wrap="square" lIns="0" tIns="0" rIns="0" bIns="0" rtlCol="0" anchor="ctr"/>
          <a:lstStyle/>
          <a:p>
            <a:pPr algn="ctr" indent="0" marL="0">
              <a:buNone/>
            </a:pPr>
            <a:r>
              <a:rPr lang="en-US" sz="1200" dirty="0">
                <a:solidFill>
                  <a:srgbClr val="D9D9D9"/>
                </a:solidFill>
                <a:latin typeface="Calibri" pitchFamily="34" charset="0"/>
                <a:ea typeface="Calibri" pitchFamily="34" charset="-122"/>
                <a:cs typeface="Calibri" pitchFamily="34" charset="-120"/>
              </a:rPr>
              <a:t>clientes con</a:t>
            </a:r>
            <a:endParaRPr lang="en-US" sz="1200" dirty="0"/>
          </a:p>
          <a:p>
            <a:pPr algn="ctr" indent="0" marL="0">
              <a:buNone/>
            </a:pPr>
            <a:r>
              <a:rPr lang="en-US" sz="1200" dirty="0">
                <a:solidFill>
                  <a:srgbClr val="D9D9D9"/>
                </a:solidFill>
                <a:latin typeface="Calibri" pitchFamily="34" charset="0"/>
                <a:ea typeface="Calibri" pitchFamily="34" charset="-122"/>
                <a:cs typeface="Calibri" pitchFamily="34" charset="-120"/>
              </a:rPr>
              <a:t>intermediación 0</a:t>
            </a:r>
            <a:endParaRPr lang="en-US" sz="1200" dirty="0"/>
          </a:p>
        </p:txBody>
      </p:sp>
      <p:sp>
        <p:nvSpPr>
          <p:cNvPr id="6" name="Text 3"/>
          <p:cNvSpPr txBox="1"/>
          <p:nvPr/>
        </p:nvSpPr>
        <p:spPr>
          <a:xfrm>
            <a:off x="731520" y="5669280"/>
            <a:ext cx="4480560" cy="822960"/>
          </a:xfrm>
          <a:prstGeom prst="rect">
            <a:avLst/>
          </a:prstGeom>
          <a:noFill/>
          <a:ln/>
        </p:spPr>
        <p:txBody>
          <a:bodyPr wrap="square" lIns="0" tIns="0" rIns="0" bIns="0" rtlCol="0" anchor="t"/>
          <a:lstStyle/>
          <a:p>
            <a:pPr indent="0" marL="0">
              <a:buNone/>
            </a:pPr>
            <a:r>
              <a:rPr lang="en-US" sz="1300" dirty="0">
                <a:solidFill>
                  <a:srgbClr val="D9D9D9"/>
                </a:solidFill>
                <a:latin typeface="Calibri" pitchFamily="34" charset="0"/>
                <a:ea typeface="Calibri" pitchFamily="34" charset="-122"/>
                <a:cs typeface="Calibri" pitchFamily="34" charset="-120"/>
              </a:rPr>
              <a:t>Usan solo 2 servicios: todos sus vecinos ya están conectados entre sí, así que ningún camino necesita pasar por ellos.</a:t>
            </a:r>
            <a:endParaRPr lang="en-US" sz="1300" dirty="0"/>
          </a:p>
        </p:txBody>
      </p:sp>
      <p:sp>
        <p:nvSpPr>
          <p:cNvPr id="7" name="Text 4"/>
          <p:cNvSpPr txBox="1"/>
          <p:nvPr/>
        </p:nvSpPr>
        <p:spPr>
          <a:xfrm>
            <a:off x="6035040" y="1828800"/>
            <a:ext cx="55778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La poca que hay está muy concentrada</a:t>
            </a:r>
            <a:endParaRPr lang="en-US" sz="1800" dirty="0"/>
          </a:p>
        </p:txBody>
      </p:sp>
      <p:graphicFrame>
        <p:nvGraphicFramePr>
          <p:cNvPr id="8" name="Chart 1" descr=""/>
          <p:cNvGraphicFramePr/>
          <p:nvPr/>
        </p:nvGraphicFramePr>
        <p:xfrm>
          <a:off x="5943600" y="2286000"/>
          <a:ext cx="5669280" cy="32918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6035040" y="5669280"/>
            <a:ext cx="5577840" cy="457200"/>
          </a:xfrm>
          <a:prstGeom prst="rect">
            <a:avLst/>
          </a:prstGeom>
          <a:noFill/>
          <a:ln/>
        </p:spPr>
        <p:txBody>
          <a:bodyPr wrap="square" lIns="0" tIns="0" rIns="0" bIns="0" rtlCol="0" anchor="ctr"/>
          <a:lstStyle/>
          <a:p>
            <a:pPr indent="0" marL="0">
              <a:buNone/>
            </a:pPr>
            <a:r>
              <a:rPr lang="en-US" sz="1300" dirty="0">
                <a:solidFill>
                  <a:srgbClr val="D9D9D9"/>
                </a:solidFill>
                <a:latin typeface="Calibri" pitchFamily="34" charset="0"/>
                <a:ea typeface="Calibri" pitchFamily="34" charset="-122"/>
                <a:cs typeface="Calibri" pitchFamily="34" charset="-120"/>
              </a:rPr>
              <a:t>Porcentaje de la intermediación total de la red que acumulan los clientes con mayor valor.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Los mejores puentes no son los más conectados: ID_329 e ID_2982 ocupan los puestos 45 y 54 en grado</a:t>
            </a:r>
            <a:endParaRPr lang="en-US" sz="3000" dirty="0"/>
          </a:p>
        </p:txBody>
      </p:sp>
      <p:graphicFrame>
        <p:nvGraphicFramePr>
          <p:cNvPr id="3" name="Chart 0" descr=""/>
          <p:cNvGraphicFramePr/>
          <p:nvPr/>
        </p:nvGraphicFramePr>
        <p:xfrm>
          <a:off x="548640" y="1783080"/>
          <a:ext cx="694944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955280" y="1965960"/>
          <a:ext cx="3611880" cy="914400"/>
        </p:xfrm>
        <a:graphic>
          <a:graphicData uri="http://schemas.openxmlformats.org/drawingml/2006/table">
            <a:tbl>
              <a:tblPr/>
              <a:tblGrid>
                <a:gridCol w="1143000"/>
                <a:gridCol w="914400"/>
                <a:gridCol w="155448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Cliente</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Grado</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1A1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Intermediación</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1A1A1A"/>
                    </a:solidFill>
                  </a:tcPr>
                </a:tc>
              </a:tr>
              <a:tr h="457200">
                <a:tc>
                  <a:txBody>
                    <a:bodyPr/>
                    <a:lstStyle/>
                    <a:p>
                      <a:pPr indent="0" marL="0">
                        <a:buNone/>
                      </a:pPr>
                      <a:r>
                        <a:rPr lang="en-US" sz="1500" b="1" dirty="0">
                          <a:solidFill>
                            <a:srgbClr val="222222"/>
                          </a:solidFill>
                          <a:latin typeface="Calibri" pitchFamily="34" charset="0"/>
                          <a:ea typeface="Calibri" pitchFamily="34" charset="-122"/>
                          <a:cs typeface="Calibri" pitchFamily="34" charset="-120"/>
                        </a:rPr>
                        <a:t>ID_329</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45.º</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500" b="1" dirty="0">
                          <a:solidFill>
                            <a:srgbClr val="DA291C"/>
                          </a:solidFill>
                          <a:latin typeface="Calibri" pitchFamily="34" charset="0"/>
                          <a:ea typeface="Calibri" pitchFamily="34" charset="-122"/>
                          <a:cs typeface="Calibri" pitchFamily="34" charset="-120"/>
                        </a:rPr>
                        <a:t>1.º</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57200">
                <a:tc>
                  <a:txBody>
                    <a:bodyPr/>
                    <a:lstStyle/>
                    <a:p>
                      <a:pPr indent="0" marL="0">
                        <a:buNone/>
                      </a:pPr>
                      <a:r>
                        <a:rPr lang="en-US" sz="1500" b="1" dirty="0">
                          <a:solidFill>
                            <a:srgbClr val="222222"/>
                          </a:solidFill>
                          <a:latin typeface="Calibri" pitchFamily="34" charset="0"/>
                          <a:ea typeface="Calibri" pitchFamily="34" charset="-122"/>
                          <a:cs typeface="Calibri" pitchFamily="34" charset="-120"/>
                        </a:rPr>
                        <a:t>ID_2982</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54.º</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500" b="1" dirty="0">
                          <a:solidFill>
                            <a:srgbClr val="DA291C"/>
                          </a:solidFill>
                          <a:latin typeface="Calibri" pitchFamily="34" charset="0"/>
                          <a:ea typeface="Calibri" pitchFamily="34" charset="-122"/>
                          <a:cs typeface="Calibri" pitchFamily="34" charset="-120"/>
                        </a:rPr>
                        <a:t>2.º</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r h="457200">
                <a:tc>
                  <a:txBody>
                    <a:bodyPr/>
                    <a:lstStyle/>
                    <a:p>
                      <a:pPr indent="0" marL="0">
                        <a:buNone/>
                      </a:pPr>
                      <a:r>
                        <a:rPr lang="en-US" sz="1500" b="1" dirty="0">
                          <a:solidFill>
                            <a:srgbClr val="222222"/>
                          </a:solidFill>
                          <a:latin typeface="Calibri" pitchFamily="34" charset="0"/>
                          <a:ea typeface="Calibri" pitchFamily="34" charset="-122"/>
                          <a:cs typeface="Calibri" pitchFamily="34" charset="-120"/>
                        </a:rPr>
                        <a:t>ID_3124</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500" b="1" dirty="0">
                          <a:solidFill>
                            <a:srgbClr val="DA291C"/>
                          </a:solidFill>
                          <a:latin typeface="Calibri" pitchFamily="34" charset="0"/>
                          <a:ea typeface="Calibri" pitchFamily="34" charset="-122"/>
                          <a:cs typeface="Calibri" pitchFamily="34" charset="-120"/>
                        </a:rPr>
                        <a:t>1.º</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3.º</a:t>
                      </a:r>
                      <a:endParaRPr lang="en-US" sz="1500" dirty="0">
                        <a:latin typeface="Calibri" charset="0"/>
                        <a:ea typeface="Calibri" charset="0"/>
                        <a:cs typeface="Calibri" charset="0"/>
                      </a:endParaRPr>
                    </a:p>
                  </a:txBody>
                  <a:tcPr marL="91440" marR="91440" marT="45720" marB="4572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tcPr>
                </a:tc>
              </a:tr>
            </a:tbl>
          </a:graphicData>
        </a:graphic>
      </p:graphicFrame>
      <p:sp>
        <p:nvSpPr>
          <p:cNvPr id="5" name="Text 1"/>
          <p:cNvSpPr txBox="1"/>
          <p:nvPr/>
        </p:nvSpPr>
        <p:spPr>
          <a:xfrm>
            <a:off x="7955280" y="4069080"/>
            <a:ext cx="3611880" cy="1371600"/>
          </a:xfrm>
          <a:prstGeom prst="rect">
            <a:avLst/>
          </a:prstGeom>
          <a:noFill/>
          <a:ln/>
        </p:spPr>
        <p:txBody>
          <a:bodyPr wrap="square" lIns="0" tIns="0" rIns="0" bIns="0" rtlCol="0" anchor="t"/>
          <a:lstStyle/>
          <a:p>
            <a:pPr indent="0" marL="0">
              <a:buNone/>
            </a:pPr>
            <a:r>
              <a:rPr lang="en-US" sz="1400" dirty="0">
                <a:solidFill>
                  <a:srgbClr val="6B6B6B"/>
                </a:solidFill>
                <a:latin typeface="Calibri" pitchFamily="34" charset="0"/>
                <a:ea typeface="Calibri" pitchFamily="34" charset="-122"/>
                <a:cs typeface="Calibri" pitchFamily="34" charset="-120"/>
              </a:rPr>
              <a:t>Los distingue SERV_7, el servicio con menos clientes en la red (solo 16). Al combinarlo con los servicios comunes, conectan a esos pocos clientes con el núcleo.</a:t>
            </a:r>
            <a:endParaRPr lang="en-US" sz="1400" dirty="0"/>
          </a:p>
        </p:txBody>
      </p:sp>
      <p:sp>
        <p:nvSpPr>
          <p:cNvPr id="6" name="Text 2"/>
          <p:cNvSpPr txBox="1"/>
          <p:nvPr/>
        </p:nvSpPr>
        <p:spPr>
          <a:xfrm>
            <a:off x="7955280" y="5486400"/>
            <a:ext cx="3611880" cy="640080"/>
          </a:xfrm>
          <a:prstGeom prst="rect">
            <a:avLst/>
          </a:prstGeom>
          <a:noFill/>
          <a:ln/>
        </p:spPr>
        <p:txBody>
          <a:bodyPr wrap="square" lIns="0" tIns="0" rIns="0" bIns="0" rtlCol="0" anchor="t"/>
          <a:lstStyle/>
          <a:p>
            <a:pPr indent="0" marL="0">
              <a:buNone/>
            </a:pPr>
            <a:r>
              <a:rPr lang="en-US" sz="1400" b="1" dirty="0">
                <a:solidFill>
                  <a:srgbClr val="222222"/>
                </a:solidFill>
                <a:latin typeface="Calibri" pitchFamily="34" charset="0"/>
                <a:ea typeface="Calibri" pitchFamily="34" charset="-122"/>
                <a:cs typeface="Calibri" pitchFamily="34" charset="-120"/>
              </a:rPr>
              <a:t>ID_3124 es el único que destaca en todas las métricas.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1143000"/>
          </a:xfrm>
          <a:prstGeom prst="rect">
            <a:avLst/>
          </a:prstGeom>
          <a:noFill/>
          <a:ln/>
        </p:spPr>
        <p:txBody>
          <a:bodyPr wrap="square" lIns="0" tIns="0" rIns="0" bIns="0" rtlCol="0" anchor="t"/>
          <a:lstStyle/>
          <a:p>
            <a:pPr indent="0" marL="0">
              <a:buNone/>
            </a:pPr>
            <a:r>
              <a:rPr lang="en-US" sz="3000" b="1" dirty="0">
                <a:solidFill>
                  <a:srgbClr val="222222"/>
                </a:solidFill>
                <a:latin typeface="Arial" pitchFamily="34" charset="0"/>
                <a:ea typeface="Arial" pitchFamily="34" charset="-122"/>
                <a:cs typeface="Arial" pitchFamily="34" charset="-120"/>
              </a:rPr>
              <a:t>Los clientes clave son perfiles de consumo: hay hubs y hay puentes</a:t>
            </a:r>
            <a:endParaRPr lang="en-US" sz="3000" dirty="0"/>
          </a:p>
        </p:txBody>
      </p:sp>
      <p:sp>
        <p:nvSpPr>
          <p:cNvPr id="3" name="Shape 1"/>
          <p:cNvSpPr/>
          <p:nvPr/>
        </p:nvSpPr>
        <p:spPr>
          <a:xfrm>
            <a:off x="640080" y="1828800"/>
            <a:ext cx="5271516" cy="3246120"/>
          </a:xfrm>
          <a:prstGeom prst="roundRect">
            <a:avLst>
              <a:gd name="adj" fmla="val 3380"/>
            </a:avLst>
          </a:prstGeom>
          <a:solidFill>
            <a:srgbClr val="F3F3F3"/>
          </a:solidFill>
          <a:ln w="12700">
            <a:solidFill>
              <a:srgbClr val="F3F3F3"/>
            </a:solidFill>
            <a:prstDash val="solid"/>
          </a:ln>
        </p:spPr>
      </p:sp>
      <p:sp>
        <p:nvSpPr>
          <p:cNvPr id="4" name="Shape 2"/>
          <p:cNvSpPr/>
          <p:nvPr/>
        </p:nvSpPr>
        <p:spPr>
          <a:xfrm>
            <a:off x="960120" y="2103120"/>
            <a:ext cx="731520" cy="731520"/>
          </a:xfrm>
          <a:prstGeom prst="ellipse">
            <a:avLst/>
          </a:prstGeom>
          <a:solidFill>
            <a:srgbClr val="222222"/>
          </a:solidFill>
          <a:ln w="12700">
            <a:solidFill>
              <a:srgbClr val="222222"/>
            </a:solidFill>
            <a:prstDash val="solid"/>
          </a:ln>
        </p:spPr>
      </p:sp>
      <p:pic>
        <p:nvPicPr>
          <p:cNvPr id="5" name="Image 0" descr="preencoded.png">    </p:cNvPr>
          <p:cNvPicPr>
            <a:picLocks noChangeAspect="1"/>
          </p:cNvPicPr>
          <p:nvPr/>
        </p:nvPicPr>
        <p:blipFill>
          <a:blip r:embed="rId1"/>
          <a:stretch>
            <a:fillRect/>
          </a:stretch>
        </p:blipFill>
        <p:spPr>
          <a:xfrm>
            <a:off x="1143000" y="2286000"/>
            <a:ext cx="365760" cy="365760"/>
          </a:xfrm>
          <a:prstGeom prst="rect">
            <a:avLst/>
          </a:prstGeom>
        </p:spPr>
      </p:pic>
      <p:sp>
        <p:nvSpPr>
          <p:cNvPr id="6" name="Text 3"/>
          <p:cNvSpPr txBox="1"/>
          <p:nvPr/>
        </p:nvSpPr>
        <p:spPr>
          <a:xfrm>
            <a:off x="1874520" y="2148840"/>
            <a:ext cx="2743200" cy="640080"/>
          </a:xfrm>
          <a:prstGeom prst="rect">
            <a:avLst/>
          </a:prstGeom>
          <a:noFill/>
          <a:ln/>
        </p:spPr>
        <p:txBody>
          <a:bodyPr wrap="square" lIns="0" tIns="0" rIns="0" bIns="0" rtlCol="0" anchor="ctr"/>
          <a:lstStyle/>
          <a:p>
            <a:pPr indent="0" marL="0">
              <a:buNone/>
            </a:pPr>
            <a:r>
              <a:rPr lang="en-US" sz="2600" b="1" dirty="0">
                <a:solidFill>
                  <a:srgbClr val="222222"/>
                </a:solidFill>
                <a:latin typeface="Arial" pitchFamily="34" charset="0"/>
                <a:ea typeface="Arial" pitchFamily="34" charset="-122"/>
                <a:cs typeface="Arial" pitchFamily="34" charset="-120"/>
              </a:rPr>
              <a:t>Hubs</a:t>
            </a:r>
            <a:endParaRPr lang="en-US" sz="2600" dirty="0"/>
          </a:p>
        </p:txBody>
      </p:sp>
      <p:sp>
        <p:nvSpPr>
          <p:cNvPr id="7" name="Text 4"/>
          <p:cNvSpPr txBox="1"/>
          <p:nvPr/>
        </p:nvSpPr>
        <p:spPr>
          <a:xfrm>
            <a:off x="960120" y="3017520"/>
            <a:ext cx="4631436" cy="36576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Muy conectados y cerca de todos</a:t>
            </a:r>
            <a:endParaRPr lang="en-US" sz="1600" dirty="0"/>
          </a:p>
        </p:txBody>
      </p:sp>
      <p:sp>
        <p:nvSpPr>
          <p:cNvPr id="8" name="Text 5"/>
          <p:cNvSpPr txBox="1"/>
          <p:nvPr/>
        </p:nvSpPr>
        <p:spPr>
          <a:xfrm>
            <a:off x="960120" y="3474720"/>
            <a:ext cx="4631436"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6B6B6B"/>
                </a:solidFill>
                <a:latin typeface="Calibri" pitchFamily="34" charset="0"/>
                <a:ea typeface="Calibri" pitchFamily="34" charset="-122"/>
                <a:cs typeface="Calibri" pitchFamily="34" charset="-120"/>
              </a:rPr>
              <a:t>SERV_1 + SERV_2 y 2 o más servicios adicionales</a:t>
            </a:r>
            <a:endParaRPr lang="en-US" sz="1600" dirty="0"/>
          </a:p>
          <a:p>
            <a:pPr marL="342900" indent="-342900">
              <a:spcAft>
                <a:spcPts val="800"/>
              </a:spcAft>
              <a:buSzPct val="100000"/>
              <a:buChar char="•"/>
            </a:pPr>
            <a:r>
              <a:rPr lang="en-US" sz="1600" dirty="0">
                <a:solidFill>
                  <a:srgbClr val="6B6B6B"/>
                </a:solidFill>
                <a:latin typeface="Calibri" pitchFamily="34" charset="0"/>
                <a:ea typeface="Calibri" pitchFamily="34" charset="-122"/>
                <a:cs typeface="Calibri" pitchFamily="34" charset="-120"/>
              </a:rPr>
              <a:t>15 clientes con grado mayor a 0.97, encabezados por ID_3124</a:t>
            </a:r>
            <a:endParaRPr lang="en-US" sz="1600" dirty="0"/>
          </a:p>
          <a:p>
            <a:pPr marL="342900" indent="-342900">
              <a:spcAft>
                <a:spcPts val="800"/>
              </a:spcAft>
              <a:buSzPct val="100000"/>
              <a:buChar char="•"/>
            </a:pPr>
            <a:r>
              <a:rPr lang="en-US" sz="1600" dirty="0">
                <a:solidFill>
                  <a:srgbClr val="6B6B6B"/>
                </a:solidFill>
                <a:latin typeface="Calibri" pitchFamily="34" charset="0"/>
                <a:ea typeface="Calibri" pitchFamily="34" charset="-122"/>
                <a:cs typeface="Calibri" pitchFamily="34" charset="-120"/>
              </a:rPr>
              <a:t>28 clientes con SERV_1, 2, 4 y 5 (grado 0.963)</a:t>
            </a:r>
            <a:endParaRPr lang="en-US" sz="1600" dirty="0"/>
          </a:p>
        </p:txBody>
      </p:sp>
      <p:sp>
        <p:nvSpPr>
          <p:cNvPr id="9" name="Shape 6"/>
          <p:cNvSpPr/>
          <p:nvPr/>
        </p:nvSpPr>
        <p:spPr>
          <a:xfrm>
            <a:off x="6277356" y="1828800"/>
            <a:ext cx="5271516" cy="3246120"/>
          </a:xfrm>
          <a:prstGeom prst="roundRect">
            <a:avLst>
              <a:gd name="adj" fmla="val 3380"/>
            </a:avLst>
          </a:prstGeom>
          <a:solidFill>
            <a:srgbClr val="1A1A1A"/>
          </a:solidFill>
          <a:ln w="12700">
            <a:solidFill>
              <a:srgbClr val="1A1A1A"/>
            </a:solidFill>
            <a:prstDash val="solid"/>
          </a:ln>
        </p:spPr>
      </p:sp>
      <p:sp>
        <p:nvSpPr>
          <p:cNvPr id="10" name="Shape 7"/>
          <p:cNvSpPr/>
          <p:nvPr/>
        </p:nvSpPr>
        <p:spPr>
          <a:xfrm>
            <a:off x="6597396" y="2103120"/>
            <a:ext cx="731520" cy="731520"/>
          </a:xfrm>
          <a:prstGeom prst="ellipse">
            <a:avLst/>
          </a:prstGeom>
          <a:solidFill>
            <a:srgbClr val="DA291C"/>
          </a:solidFill>
          <a:ln w="12700">
            <a:solidFill>
              <a:srgbClr val="DA291C"/>
            </a:solidFill>
            <a:prstDash val="solid"/>
          </a:ln>
        </p:spPr>
      </p:sp>
      <p:pic>
        <p:nvPicPr>
          <p:cNvPr id="11" name="Image 1" descr="preencoded.png">    </p:cNvPr>
          <p:cNvPicPr>
            <a:picLocks noChangeAspect="1"/>
          </p:cNvPicPr>
          <p:nvPr/>
        </p:nvPicPr>
        <p:blipFill>
          <a:blip r:embed="rId2"/>
          <a:stretch>
            <a:fillRect/>
          </a:stretch>
        </p:blipFill>
        <p:spPr>
          <a:xfrm>
            <a:off x="6780276" y="2286000"/>
            <a:ext cx="365760" cy="365760"/>
          </a:xfrm>
          <a:prstGeom prst="rect">
            <a:avLst/>
          </a:prstGeom>
        </p:spPr>
      </p:pic>
      <p:sp>
        <p:nvSpPr>
          <p:cNvPr id="12" name="Text 8"/>
          <p:cNvSpPr txBox="1"/>
          <p:nvPr/>
        </p:nvSpPr>
        <p:spPr>
          <a:xfrm>
            <a:off x="7511796" y="2148840"/>
            <a:ext cx="27432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Puentes</a:t>
            </a:r>
            <a:endParaRPr lang="en-US" sz="2600" dirty="0"/>
          </a:p>
        </p:txBody>
      </p:sp>
      <p:sp>
        <p:nvSpPr>
          <p:cNvPr id="13" name="Text 9"/>
          <p:cNvSpPr txBox="1"/>
          <p:nvPr/>
        </p:nvSpPr>
        <p:spPr>
          <a:xfrm>
            <a:off x="6597396" y="3017520"/>
            <a:ext cx="4631436"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Conectan al núcleo con los clientes poco frecuentes</a:t>
            </a:r>
            <a:endParaRPr lang="en-US" sz="1600" dirty="0"/>
          </a:p>
        </p:txBody>
      </p:sp>
      <p:sp>
        <p:nvSpPr>
          <p:cNvPr id="14" name="Text 10"/>
          <p:cNvSpPr txBox="1"/>
          <p:nvPr/>
        </p:nvSpPr>
        <p:spPr>
          <a:xfrm>
            <a:off x="6597396" y="3474720"/>
            <a:ext cx="4631436"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D9D9D9"/>
                </a:solidFill>
                <a:latin typeface="Calibri" pitchFamily="34" charset="0"/>
                <a:ea typeface="Calibri" pitchFamily="34" charset="-122"/>
                <a:cs typeface="Calibri" pitchFamily="34" charset="-120"/>
              </a:rPr>
              <a:t>SERV_1 + SERV_2 y un servicio poco frecuente, sobre todo SERV_7</a:t>
            </a:r>
            <a:endParaRPr lang="en-US" sz="1600" dirty="0"/>
          </a:p>
          <a:p>
            <a:pPr marL="342900" indent="-342900">
              <a:spcAft>
                <a:spcPts val="800"/>
              </a:spcAft>
              <a:buSzPct val="100000"/>
              <a:buChar char="•"/>
            </a:pPr>
            <a:r>
              <a:rPr lang="en-US" sz="1600" dirty="0">
                <a:solidFill>
                  <a:srgbClr val="D9D9D9"/>
                </a:solidFill>
                <a:latin typeface="Calibri" pitchFamily="34" charset="0"/>
                <a:ea typeface="Calibri" pitchFamily="34" charset="-122"/>
                <a:cs typeface="Calibri" pitchFamily="34" charset="-120"/>
              </a:rPr>
              <a:t>Perfiles casi únicos: de 1 a 4 clientes</a:t>
            </a:r>
            <a:endParaRPr lang="en-US" sz="1600" dirty="0"/>
          </a:p>
          <a:p>
            <a:pPr marL="342900" indent="-342900">
              <a:spcAft>
                <a:spcPts val="800"/>
              </a:spcAft>
              <a:buSzPct val="100000"/>
              <a:buChar char="•"/>
            </a:pPr>
            <a:r>
              <a:rPr lang="en-US" sz="1600" dirty="0">
                <a:solidFill>
                  <a:srgbClr val="D9D9D9"/>
                </a:solidFill>
                <a:latin typeface="Calibri" pitchFamily="34" charset="0"/>
                <a:ea typeface="Calibri" pitchFamily="34" charset="-122"/>
                <a:cs typeface="Calibri" pitchFamily="34" charset="-120"/>
              </a:rPr>
              <a:t>Encabezados por ID_329 e ID_2982</a:t>
            </a:r>
            <a:endParaRPr lang="en-US" sz="1600" dirty="0"/>
          </a:p>
        </p:txBody>
      </p:sp>
      <p:sp>
        <p:nvSpPr>
          <p:cNvPr id="15" name="Text 11"/>
          <p:cNvSpPr txBox="1"/>
          <p:nvPr/>
        </p:nvSpPr>
        <p:spPr>
          <a:xfrm>
            <a:off x="640080" y="5394960"/>
            <a:ext cx="10908792" cy="731520"/>
          </a:xfrm>
          <a:prstGeom prst="rect">
            <a:avLst/>
          </a:prstGeom>
          <a:noFill/>
          <a:ln/>
        </p:spPr>
        <p:txBody>
          <a:bodyPr wrap="square" lIns="0" tIns="0" rIns="0" bIns="0" rtlCol="0" anchor="t"/>
          <a:lstStyle/>
          <a:p>
            <a:pPr indent="0" marL="0">
              <a:buNone/>
            </a:pPr>
            <a:r>
              <a:rPr lang="en-US" sz="1700" b="1" dirty="0">
                <a:solidFill>
                  <a:srgbClr val="222222"/>
                </a:solidFill>
                <a:latin typeface="Calibri" pitchFamily="34" charset="0"/>
                <a:ea typeface="Calibri" pitchFamily="34" charset="-122"/>
                <a:cs typeface="Calibri" pitchFamily="34" charset="-120"/>
              </a:rPr>
              <a:t>47 combinaciones de servicios. </a:t>
            </a:r>
            <a:pPr indent="0" marL="0">
              <a:buNone/>
            </a:pPr>
            <a:r>
              <a:rPr lang="en-US" sz="1700" dirty="0">
                <a:solidFill>
                  <a:srgbClr val="6B6B6B"/>
                </a:solidFill>
                <a:latin typeface="Calibri" pitchFamily="34" charset="0"/>
                <a:ea typeface="Calibri" pitchFamily="34" charset="-122"/>
                <a:cs typeface="Calibri" pitchFamily="34" charset="-120"/>
              </a:rPr>
              <a:t>Mismo perfil, misma centralidad: lo que pesa no es cuántos servicios usa el cliente, sino incluir SERV_1 y SERV_2 a la vez.</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640080" y="777240"/>
            <a:ext cx="10881360" cy="164592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Estar muy conectado no es lo mismo que ser un puente</a:t>
            </a:r>
            <a:endParaRPr lang="en-US" sz="4200" dirty="0"/>
          </a:p>
        </p:txBody>
      </p:sp>
      <p:sp>
        <p:nvSpPr>
          <p:cNvPr id="3" name="Text 1"/>
          <p:cNvSpPr txBox="1"/>
          <p:nvPr/>
        </p:nvSpPr>
        <p:spPr>
          <a:xfrm>
            <a:off x="640080" y="2423160"/>
            <a:ext cx="10515600" cy="457200"/>
          </a:xfrm>
          <a:prstGeom prst="rect">
            <a:avLst/>
          </a:prstGeom>
          <a:noFill/>
          <a:ln/>
        </p:spPr>
        <p:txBody>
          <a:bodyPr wrap="square" lIns="0" tIns="0" rIns="0" bIns="0" rtlCol="0" anchor="ctr"/>
          <a:lstStyle/>
          <a:p>
            <a:pPr indent="0" marL="0">
              <a:buNone/>
            </a:pPr>
            <a:r>
              <a:rPr lang="en-US" sz="2000" b="1" dirty="0">
                <a:solidFill>
                  <a:srgbClr val="DA291C"/>
                </a:solidFill>
                <a:latin typeface="Calibri" pitchFamily="34" charset="0"/>
                <a:ea typeface="Calibri" pitchFamily="34" charset="-122"/>
                <a:cs typeface="Calibri" pitchFamily="34" charset="-120"/>
              </a:rPr>
              <a:t>Hubs y puentes: dos formas distintas de ser un cliente clave.</a:t>
            </a:r>
            <a:endParaRPr lang="en-US" sz="2000" dirty="0"/>
          </a:p>
        </p:txBody>
      </p:sp>
      <p:sp>
        <p:nvSpPr>
          <p:cNvPr id="4" name="Shape 2"/>
          <p:cNvSpPr/>
          <p:nvPr/>
        </p:nvSpPr>
        <p:spPr>
          <a:xfrm>
            <a:off x="640080" y="3291840"/>
            <a:ext cx="5271516" cy="2560320"/>
          </a:xfrm>
          <a:prstGeom prst="roundRect">
            <a:avLst>
              <a:gd name="adj" fmla="val 4286"/>
            </a:avLst>
          </a:prstGeom>
          <a:solidFill>
            <a:srgbClr val="2B2B2B"/>
          </a:solidFill>
          <a:ln w="12700">
            <a:solidFill>
              <a:srgbClr val="2B2B2B"/>
            </a:solidFill>
            <a:prstDash val="solid"/>
          </a:ln>
        </p:spPr>
      </p:sp>
      <p:pic>
        <p:nvPicPr>
          <p:cNvPr id="5" name="Image 0" descr="preencoded.png">    </p:cNvPr>
          <p:cNvPicPr>
            <a:picLocks noChangeAspect="1"/>
          </p:cNvPicPr>
          <p:nvPr/>
        </p:nvPicPr>
        <p:blipFill>
          <a:blip r:embed="rId1"/>
          <a:stretch>
            <a:fillRect/>
          </a:stretch>
        </p:blipFill>
        <p:spPr>
          <a:xfrm>
            <a:off x="960120" y="3566160"/>
            <a:ext cx="365760" cy="365760"/>
          </a:xfrm>
          <a:prstGeom prst="rect">
            <a:avLst/>
          </a:prstGeom>
        </p:spPr>
      </p:pic>
      <p:sp>
        <p:nvSpPr>
          <p:cNvPr id="6" name="Text 3"/>
          <p:cNvSpPr txBox="1"/>
          <p:nvPr/>
        </p:nvSpPr>
        <p:spPr>
          <a:xfrm>
            <a:off x="1508760" y="3547872"/>
            <a:ext cx="36576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7" name="Text 4"/>
          <p:cNvSpPr txBox="1"/>
          <p:nvPr/>
        </p:nvSpPr>
        <p:spPr>
          <a:xfrm>
            <a:off x="960120" y="4160520"/>
            <a:ext cx="4631436"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D9D9D9"/>
                </a:solidFill>
                <a:latin typeface="Calibri" pitchFamily="34" charset="0"/>
                <a:ea typeface="Calibri" pitchFamily="34" charset="-122"/>
                <a:cs typeface="Calibri" pitchFamily="34" charset="-120"/>
              </a:rPr>
              <a:t>4,227 clientes con un solo servicio no tienen centralidad</a:t>
            </a:r>
            <a:endParaRPr lang="en-US" sz="1600" dirty="0"/>
          </a:p>
          <a:p>
            <a:pPr marL="342900" indent="-342900">
              <a:spcAft>
                <a:spcPts val="800"/>
              </a:spcAft>
              <a:buSzPct val="100000"/>
              <a:buChar char="•"/>
            </a:pPr>
            <a:r>
              <a:rPr lang="en-US" sz="1600" dirty="0">
                <a:solidFill>
                  <a:srgbClr val="D9D9D9"/>
                </a:solidFill>
                <a:latin typeface="Calibri" pitchFamily="34" charset="0"/>
                <a:ea typeface="Calibri" pitchFamily="34" charset="-122"/>
                <a:cs typeface="Calibri" pitchFamily="34" charset="-120"/>
              </a:rPr>
              <a:t>Con peso mínimo 2, la centralidad depende de la combinación de servicios</a:t>
            </a:r>
            <a:endParaRPr lang="en-US" sz="1600" dirty="0"/>
          </a:p>
          <a:p>
            <a:pPr marL="342900" indent="-342900">
              <a:spcAft>
                <a:spcPts val="800"/>
              </a:spcAft>
              <a:buSzPct val="100000"/>
              <a:buChar char="•"/>
            </a:pPr>
            <a:r>
              <a:rPr lang="en-US" sz="1600" dirty="0">
                <a:solidFill>
                  <a:srgbClr val="D9D9D9"/>
                </a:solidFill>
                <a:latin typeface="Calibri" pitchFamily="34" charset="0"/>
                <a:ea typeface="Calibri" pitchFamily="34" charset="-122"/>
                <a:cs typeface="Calibri" pitchFamily="34" charset="-120"/>
              </a:rPr>
              <a:t>Muchos empates en los rankings</a:t>
            </a:r>
            <a:endParaRPr lang="en-US" sz="1600" dirty="0"/>
          </a:p>
        </p:txBody>
      </p:sp>
      <p:sp>
        <p:nvSpPr>
          <p:cNvPr id="8" name="Shape 5"/>
          <p:cNvSpPr/>
          <p:nvPr/>
        </p:nvSpPr>
        <p:spPr>
          <a:xfrm>
            <a:off x="6277356" y="3291840"/>
            <a:ext cx="5271516" cy="2560320"/>
          </a:xfrm>
          <a:prstGeom prst="roundRect">
            <a:avLst>
              <a:gd name="adj" fmla="val 4286"/>
            </a:avLst>
          </a:prstGeom>
          <a:solidFill>
            <a:srgbClr val="2B2B2B"/>
          </a:solidFill>
          <a:ln w="12700">
            <a:solidFill>
              <a:srgbClr val="2B2B2B"/>
            </a:solidFill>
            <a:prstDash val="solid"/>
          </a:ln>
        </p:spPr>
      </p:sp>
      <p:pic>
        <p:nvPicPr>
          <p:cNvPr id="9" name="Image 1" descr="preencoded.png">    </p:cNvPr>
          <p:cNvPicPr>
            <a:picLocks noChangeAspect="1"/>
          </p:cNvPicPr>
          <p:nvPr/>
        </p:nvPicPr>
        <p:blipFill>
          <a:blip r:embed="rId2"/>
          <a:stretch>
            <a:fillRect/>
          </a:stretch>
        </p:blipFill>
        <p:spPr>
          <a:xfrm>
            <a:off x="6597396" y="3566160"/>
            <a:ext cx="365760" cy="365760"/>
          </a:xfrm>
          <a:prstGeom prst="rect">
            <a:avLst/>
          </a:prstGeom>
        </p:spPr>
      </p:pic>
      <p:sp>
        <p:nvSpPr>
          <p:cNvPr id="10" name="Text 6"/>
          <p:cNvSpPr txBox="1"/>
          <p:nvPr/>
        </p:nvSpPr>
        <p:spPr>
          <a:xfrm>
            <a:off x="7146036" y="3547872"/>
            <a:ext cx="36576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Hito 2</a:t>
            </a:r>
            <a:endParaRPr lang="en-US" sz="2000" dirty="0"/>
          </a:p>
        </p:txBody>
      </p:sp>
      <p:sp>
        <p:nvSpPr>
          <p:cNvPr id="11" name="Text 7"/>
          <p:cNvSpPr txBox="1"/>
          <p:nvPr/>
        </p:nvSpPr>
        <p:spPr>
          <a:xfrm>
            <a:off x="6597396" y="4160520"/>
            <a:ext cx="4631436"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D9D9D9"/>
                </a:solidFill>
                <a:latin typeface="Calibri" pitchFamily="34" charset="0"/>
                <a:ea typeface="Calibri" pitchFamily="34" charset="-122"/>
                <a:cs typeface="Calibri" pitchFamily="34" charset="-120"/>
              </a:rPr>
              <a:t>Cómo cambia la centralidad año a año</a:t>
            </a:r>
            <a:endParaRPr lang="en-US" sz="1500" dirty="0"/>
          </a:p>
          <a:p>
            <a:pPr marL="342900" indent="-342900">
              <a:spcAft>
                <a:spcPts val="600"/>
              </a:spcAft>
              <a:buSzPct val="100000"/>
              <a:buChar char="•"/>
            </a:pPr>
            <a:r>
              <a:rPr lang="en-US" sz="1500" dirty="0">
                <a:solidFill>
                  <a:srgbClr val="D9D9D9"/>
                </a:solidFill>
                <a:latin typeface="Calibri" pitchFamily="34" charset="0"/>
                <a:ea typeface="Calibri" pitchFamily="34" charset="-122"/>
                <a:cs typeface="Calibri" pitchFamily="34" charset="-120"/>
              </a:rPr>
              <a:t>Relación con la modalidad y la complejidad de los servicios</a:t>
            </a:r>
            <a:endParaRPr lang="en-US" sz="1500" dirty="0"/>
          </a:p>
          <a:p>
            <a:pPr marL="342900" indent="-342900">
              <a:spcAft>
                <a:spcPts val="600"/>
              </a:spcAft>
              <a:buSzPct val="100000"/>
              <a:buChar char="•"/>
            </a:pPr>
            <a:r>
              <a:rPr lang="en-US" sz="1500" dirty="0">
                <a:solidFill>
                  <a:srgbClr val="D9D9D9"/>
                </a:solidFill>
                <a:latin typeface="Calibri" pitchFamily="34" charset="0"/>
                <a:ea typeface="Calibri" pitchFamily="34" charset="-122"/>
                <a:cs typeface="Calibri" pitchFamily="34" charset="-120"/>
              </a:rPr>
              <a:t>Interpretación para el negocio y conclusiones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Centralidad y clientes clave en la red – Hito 1</dc:title>
  <dc:subject>PptxGenJS Presentation</dc:subject>
  <dc:creator>PptxGenJS</dc:creator>
  <cp:lastModifiedBy>PptxGenJS</cp:lastModifiedBy>
  <cp:revision>1</cp:revision>
  <dcterms:created xsi:type="dcterms:W3CDTF">2026-10-05T03:24:48Z</dcterms:created>
  <dcterms:modified xsi:type="dcterms:W3CDTF">2026-10-05T03:24:48Z</dcterms:modified>
</cp:coreProperties>
</file>